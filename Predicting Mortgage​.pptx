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70" r:id="rId4"/>
    <p:sldId id="258" r:id="rId5"/>
    <p:sldId id="277" r:id="rId6"/>
    <p:sldId id="282" r:id="rId7"/>
    <p:sldId id="259" r:id="rId8"/>
    <p:sldId id="280" r:id="rId9"/>
    <p:sldId id="268" r:id="rId10"/>
    <p:sldId id="261" r:id="rId11"/>
    <p:sldId id="269" r:id="rId12"/>
    <p:sldId id="271" r:id="rId13"/>
    <p:sldId id="262" r:id="rId14"/>
    <p:sldId id="263" r:id="rId15"/>
    <p:sldId id="264" r:id="rId16"/>
    <p:sldId id="272" r:id="rId17"/>
    <p:sldId id="274" r:id="rId18"/>
    <p:sldId id="265" r:id="rId19"/>
    <p:sldId id="283" r:id="rId20"/>
    <p:sldId id="275" r:id="rId21"/>
    <p:sldId id="266" r:id="rId22"/>
    <p:sldId id="281" r:id="rId23"/>
    <p:sldId id="267" r:id="rId24"/>
    <p:sldId id="276" r:id="rId25"/>
  </p:sldIdLst>
  <p:sldSz cx="12192000" cy="6858000"/>
  <p:notesSz cx="6858000" cy="9144000"/>
  <p:embeddedFontLst>
    <p:embeddedFont>
      <p:font typeface="Cinzel" panose="020B0604020202020204" charset="0"/>
      <p:regular r:id="rId27"/>
      <p:bold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Lato Light" panose="020F0502020204030203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78682-C3DA-90F1-A15D-428FD6575430}" v="3" dt="2026-06-01T04:14:02.358"/>
  </p1510:revLst>
</p1510:revInfo>
</file>

<file path=ppt/tableStyles.xml><?xml version="1.0" encoding="utf-8"?>
<a:tblStyleLst xmlns:a="http://schemas.openxmlformats.org/drawingml/2006/main" def="{8848685E-7C59-487D-B7DD-59912A5C7011}">
  <a:tblStyle styleId="{8848685E-7C59-487D-B7DD-59912A5C70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2625D7D-030C-38B0-BCFF-F8FE4D32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67659C3-F275-369C-D04C-A3E9A3BA7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FADFF27-A2D1-9C08-1446-7ED0B3145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6292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ECA2FF5C-7D65-2077-0338-C39024D2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>
            <a:extLst>
              <a:ext uri="{FF2B5EF4-FFF2-40B4-BE49-F238E27FC236}">
                <a16:creationId xmlns:a16="http://schemas.microsoft.com/office/drawing/2014/main" id="{D0B1EFB5-3F26-1DE9-6C65-32672332A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>
            <a:extLst>
              <a:ext uri="{FF2B5EF4-FFF2-40B4-BE49-F238E27FC236}">
                <a16:creationId xmlns:a16="http://schemas.microsoft.com/office/drawing/2014/main" id="{09FC50BB-0FBB-3E3F-A4E1-500CD6130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8413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6A4560B-4413-28F9-D079-C88D8905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C4B036FA-F656-07FD-627A-4D85674C1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1709817-8665-7FD9-058C-532BFAEC76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9425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9806205-945C-7223-55F2-E11057EC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34443119-1F27-FCE3-9B9B-53456656E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72AEFD0F-D7ED-9BDE-D443-F31238FA9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0971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C97D66B-96FC-28E5-1F6E-297F7AC7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A2C2E5F0-5523-EC27-0234-8A032B0C75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31BB2EA4-61D5-0FEE-B36F-EEF287E64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1072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5B758F43-0509-F4EE-90E4-272B6D02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2380F36E-E0B9-8459-AF79-B45C39BC0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81DE8B71-A9D6-AF23-831F-CD35C1208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0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EB39F22C-93DB-F088-B8F7-89FEC40C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3543B513-F025-FA92-4C43-BD71835C69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101F2C8F-25E3-630D-2DC9-3B772D228D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8701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F29A11A0-A4E2-96BE-7F94-33A5CA89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>
            <a:extLst>
              <a:ext uri="{FF2B5EF4-FFF2-40B4-BE49-F238E27FC236}">
                <a16:creationId xmlns:a16="http://schemas.microsoft.com/office/drawing/2014/main" id="{382BF46F-5571-72AD-B603-C59B4E592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>
            <a:extLst>
              <a:ext uri="{FF2B5EF4-FFF2-40B4-BE49-F238E27FC236}">
                <a16:creationId xmlns:a16="http://schemas.microsoft.com/office/drawing/2014/main" id="{793F927F-CB30-7025-9976-72478C9E9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9748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0460AB2-E487-A14B-A773-7E8027FB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>
            <a:extLst>
              <a:ext uri="{FF2B5EF4-FFF2-40B4-BE49-F238E27FC236}">
                <a16:creationId xmlns:a16="http://schemas.microsoft.com/office/drawing/2014/main" id="{8B0A63AA-9FDE-51F5-E701-4F644670B4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>
            <a:extLst>
              <a:ext uri="{FF2B5EF4-FFF2-40B4-BE49-F238E27FC236}">
                <a16:creationId xmlns:a16="http://schemas.microsoft.com/office/drawing/2014/main" id="{31FF5E16-F91B-7973-A35F-6E0DA51CE5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741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16E22D37-C92E-6A06-2E46-1F9F6C7E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>
            <a:extLst>
              <a:ext uri="{FF2B5EF4-FFF2-40B4-BE49-F238E27FC236}">
                <a16:creationId xmlns:a16="http://schemas.microsoft.com/office/drawing/2014/main" id="{25893553-0016-4B7B-1EB3-A39F6AA2E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>
            <a:extLst>
              <a:ext uri="{FF2B5EF4-FFF2-40B4-BE49-F238E27FC236}">
                <a16:creationId xmlns:a16="http://schemas.microsoft.com/office/drawing/2014/main" id="{19C3C397-CDFB-8A2D-8B98-D7A185367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8410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AFA66DC8-83B2-AA0D-50D7-33C8E846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>
            <a:extLst>
              <a:ext uri="{FF2B5EF4-FFF2-40B4-BE49-F238E27FC236}">
                <a16:creationId xmlns:a16="http://schemas.microsoft.com/office/drawing/2014/main" id="{C2D03969-5965-9F98-4F04-FF5D5A0C1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>
            <a:extLst>
              <a:ext uri="{FF2B5EF4-FFF2-40B4-BE49-F238E27FC236}">
                <a16:creationId xmlns:a16="http://schemas.microsoft.com/office/drawing/2014/main" id="{83D16E14-5A76-9EC7-8FB9-8107FCEB2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63957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E1726CE-7E82-F1C0-5BA4-340A18BD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A6E62B5-0307-FDAD-311D-51CA6A1B9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E723ACB-1606-0F0D-5489-B90935BAD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9259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DA1F6BC5-BB10-7727-85F4-711981F7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>
            <a:extLst>
              <a:ext uri="{FF2B5EF4-FFF2-40B4-BE49-F238E27FC236}">
                <a16:creationId xmlns:a16="http://schemas.microsoft.com/office/drawing/2014/main" id="{C981DB34-0DF4-6A7F-BD7B-354A576F5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>
            <a:extLst>
              <a:ext uri="{FF2B5EF4-FFF2-40B4-BE49-F238E27FC236}">
                <a16:creationId xmlns:a16="http://schemas.microsoft.com/office/drawing/2014/main" id="{293B8C39-3002-20C5-E614-1256CF6C65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419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180510" y="565129"/>
            <a:ext cx="783097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>
                <a:solidFill>
                  <a:schemeClr val="tx1"/>
                </a:solidFill>
                <a:ea typeface="Cinzel"/>
                <a:cs typeface="Cinzel"/>
                <a:sym typeface="Cinzel"/>
              </a:rPr>
              <a:t>Predicting Mortgage</a:t>
            </a:r>
            <a:br>
              <a:rPr lang="en-US" sz="1800" b="0" i="0" u="none" strike="noStrike" cap="none">
                <a:ea typeface="Calibri"/>
                <a:cs typeface="Calibri"/>
              </a:rPr>
            </a:br>
            <a:r>
              <a:rPr lang="en-US" sz="4800" i="0" u="none" strike="noStrike" cap="none">
                <a:solidFill>
                  <a:schemeClr val="tx1"/>
                </a:solidFill>
                <a:ea typeface="Cinzel"/>
                <a:cs typeface="Cinzel"/>
                <a:sym typeface="Cinzel"/>
              </a:rPr>
              <a:t> Approval Rates</a:t>
            </a:r>
            <a:endParaRPr sz="4800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366962" y="2045810"/>
            <a:ext cx="74580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bg2"/>
                </a:solidFill>
                <a:ea typeface="Lato Light"/>
                <a:cs typeface="Lato Light"/>
                <a:sym typeface="Lato Light"/>
              </a:rPr>
              <a:t>Technical Report &amp; Strategic Analysis</a:t>
            </a:r>
            <a:endParaRPr sz="2000" b="1">
              <a:solidFill>
                <a:schemeClr val="bg2"/>
              </a:solidFill>
            </a:endParaRP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54C047D5-D115-1E4C-AD48-89243DECC655}"/>
              </a:ext>
            </a:extLst>
          </p:cNvPr>
          <p:cNvSpPr txBox="1"/>
          <p:nvPr/>
        </p:nvSpPr>
        <p:spPr>
          <a:xfrm>
            <a:off x="2180510" y="2538253"/>
            <a:ext cx="7974589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b="1">
                <a:solidFill>
                  <a:schemeClr val="tx1"/>
                </a:solidFill>
                <a:ea typeface="Lato"/>
                <a:cs typeface="Lato"/>
              </a:rPr>
              <a:t>American University</a:t>
            </a:r>
          </a:p>
          <a:p>
            <a:pPr algn="ctr">
              <a:lnSpc>
                <a:spcPct val="160000"/>
              </a:lnSpc>
            </a:pPr>
            <a:r>
              <a:rPr lang="en-US" b="1" i="1">
                <a:solidFill>
                  <a:schemeClr val="tx1"/>
                </a:solidFill>
                <a:ea typeface="Lato"/>
                <a:cs typeface="Lato"/>
              </a:rPr>
              <a:t>Kogod School of Business</a:t>
            </a:r>
            <a:br>
              <a:rPr lang="en-US" b="1">
                <a:ea typeface="Lato"/>
                <a:cs typeface="Lato"/>
              </a:rPr>
            </a:br>
            <a:r>
              <a:rPr lang="en-US" b="1">
                <a:solidFill>
                  <a:schemeClr val="tx1"/>
                </a:solidFill>
                <a:ea typeface="Lato"/>
                <a:cs typeface="Lato"/>
              </a:rPr>
              <a:t>KSB-621</a:t>
            </a:r>
          </a:p>
          <a:p>
            <a:pPr algn="ctr">
              <a:lnSpc>
                <a:spcPct val="160000"/>
              </a:lnSpc>
            </a:pPr>
            <a:r>
              <a:rPr lang="en-US" b="1">
                <a:solidFill>
                  <a:schemeClr val="tx1"/>
                </a:solidFill>
                <a:ea typeface="Lato"/>
                <a:cs typeface="Lato"/>
              </a:rP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656976" y="3418187"/>
            <a:ext cx="22593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Objective</a:t>
            </a:r>
            <a:endParaRPr lang="en-US" sz="1950" b="1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29492" y="5307890"/>
            <a:ext cx="103060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ea typeface="Lato"/>
                <a:cs typeface="Lato"/>
              </a:rPr>
              <a:t>The recent high interests rate environment has created a challenging mortgage lending market.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72465" y="2199631"/>
            <a:ext cx="46405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4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</a:rPr>
              <a:t>Business Question</a:t>
            </a:r>
          </a:p>
        </p:txBody>
      </p:sp>
      <p:sp>
        <p:nvSpPr>
          <p:cNvPr id="99" name="Google Shape;99;p14"/>
          <p:cNvSpPr txBox="1"/>
          <p:nvPr/>
        </p:nvSpPr>
        <p:spPr>
          <a:xfrm>
            <a:off x="1038860" y="2576661"/>
            <a:ext cx="97631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0" i="0" u="none" strike="noStrike" cap="none">
                <a:solidFill>
                  <a:schemeClr val="tx1"/>
                </a:solidFill>
                <a:ea typeface="Lato"/>
                <a:cs typeface="Lato"/>
                <a:sym typeface="Lato"/>
              </a:rPr>
              <a:t>How do </a:t>
            </a:r>
            <a:r>
              <a:rPr lang="en-US" sz="1800">
                <a:solidFill>
                  <a:schemeClr val="tx1"/>
                </a:solidFill>
                <a:ea typeface="Lato"/>
                <a:cs typeface="Lato"/>
                <a:sym typeface="Lato"/>
              </a:rPr>
              <a:t>social and</a:t>
            </a:r>
            <a:r>
              <a:rPr lang="en-US" sz="1800" b="0" i="0" u="none" strike="noStrike" cap="none">
                <a:solidFill>
                  <a:schemeClr val="tx1"/>
                </a:solidFill>
                <a:ea typeface="Lato"/>
                <a:cs typeface="Lato"/>
                <a:sym typeface="Lato"/>
              </a:rPr>
              <a:t> economic characteristics affect mortgage lending approval rates</a:t>
            </a:r>
            <a:r>
              <a:rPr lang="en-US" sz="1800">
                <a:solidFill>
                  <a:schemeClr val="tx1"/>
                </a:solidFill>
                <a:ea typeface="Lato"/>
                <a:cs typeface="Lato"/>
                <a:sym typeface="Lato"/>
              </a:rPr>
              <a:t> in counties in the US?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38860" y="3700462"/>
            <a:ext cx="1080389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>
                <a:solidFill>
                  <a:schemeClr val="tx1"/>
                </a:solidFill>
                <a:ea typeface="Lato"/>
                <a:cs typeface="Lato"/>
                <a:sym typeface="Lato"/>
              </a:rPr>
              <a:t>Build</a:t>
            </a:r>
            <a:r>
              <a:rPr lang="en-US" sz="1800" b="0" i="0" u="none" strike="noStrike" cap="none">
                <a:solidFill>
                  <a:schemeClr val="tx1"/>
                </a:solidFill>
                <a:ea typeface="Lato"/>
                <a:cs typeface="Lato"/>
                <a:sym typeface="Lato"/>
              </a:rPr>
              <a:t> a predictive model </a:t>
            </a:r>
            <a:r>
              <a:rPr lang="en-US" sz="1800">
                <a:solidFill>
                  <a:schemeClr val="tx1"/>
                </a:solidFill>
                <a:ea typeface="Lato"/>
                <a:cs typeface="Lato"/>
                <a:sym typeface="Lato"/>
              </a:rPr>
              <a:t>to identify </a:t>
            </a:r>
            <a:r>
              <a:rPr lang="en-US" sz="1800" b="0" i="0" u="none" strike="noStrike" cap="none">
                <a:solidFill>
                  <a:schemeClr val="tx1"/>
                </a:solidFill>
                <a:ea typeface="Lato"/>
                <a:cs typeface="Lato"/>
                <a:sym typeface="Lato"/>
              </a:rPr>
              <a:t>US counties with high </a:t>
            </a:r>
            <a:r>
              <a:rPr lang="en-US" sz="1800">
                <a:solidFill>
                  <a:schemeClr val="tx1"/>
                </a:solidFill>
                <a:ea typeface="Lato"/>
                <a:cs typeface="Lato"/>
                <a:sym typeface="Lato"/>
              </a:rPr>
              <a:t>approval probabilities </a:t>
            </a:r>
            <a:r>
              <a:rPr lang="en-US" sz="1800" b="0" i="0" u="none" strike="noStrike" cap="none">
                <a:solidFill>
                  <a:schemeClr val="tx1"/>
                </a:solidFill>
                <a:ea typeface="Lato"/>
                <a:cs typeface="Lato"/>
                <a:sym typeface="Lato"/>
              </a:rPr>
              <a:t>and </a:t>
            </a:r>
            <a:r>
              <a:rPr lang="en-US" sz="1800">
                <a:solidFill>
                  <a:schemeClr val="tx1"/>
                </a:solidFill>
                <a:ea typeface="Lato"/>
                <a:cs typeface="Lato"/>
                <a:sym typeface="Lato"/>
              </a:rPr>
              <a:t>characteristics associated with high approval likelihood</a:t>
            </a:r>
            <a:r>
              <a:rPr lang="en-US" sz="1800" b="0" i="0" u="none" strike="noStrike" cap="none">
                <a:solidFill>
                  <a:schemeClr val="tx1"/>
                </a:solidFill>
                <a:ea typeface="Lato"/>
                <a:cs typeface="Lato"/>
                <a:sym typeface="Lato"/>
              </a:rPr>
              <a:t>.</a:t>
            </a:r>
            <a:r>
              <a:rPr lang="en-US" sz="1800">
                <a:solidFill>
                  <a:schemeClr val="tx1"/>
                </a:solidFill>
                <a:ea typeface="Lato"/>
                <a:cs typeface="Lato"/>
                <a:sym typeface="Lato"/>
              </a:rPr>
              <a:t> 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+mn-lt"/>
                <a:ea typeface="Cinzel"/>
                <a:cs typeface="Cinzel"/>
                <a:sym typeface="Cinzel"/>
              </a:rPr>
              <a:t>The Business Challenge</a:t>
            </a:r>
            <a:endParaRPr sz="3200">
              <a:latin typeface="+mn-lt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FCBC5F85-CFEC-69EB-BB38-F4E287CBD160}"/>
              </a:ext>
            </a:extLst>
          </p:cNvPr>
          <p:cNvSpPr txBox="1"/>
          <p:nvPr/>
        </p:nvSpPr>
        <p:spPr>
          <a:xfrm>
            <a:off x="672464" y="4932112"/>
            <a:ext cx="30605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Market Context</a:t>
            </a:r>
            <a:endParaRPr lang="en-US" sz="2400" b="1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pic>
        <p:nvPicPr>
          <p:cNvPr id="6" name="Graphic 5" descr="Questions with solid fill">
            <a:extLst>
              <a:ext uri="{FF2B5EF4-FFF2-40B4-BE49-F238E27FC236}">
                <a16:creationId xmlns:a16="http://schemas.microsoft.com/office/drawing/2014/main" id="{A4A8468C-C524-D774-2A11-31A388064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631" y="2102224"/>
            <a:ext cx="472689" cy="472689"/>
          </a:xfrm>
          <a:prstGeom prst="rect">
            <a:avLst/>
          </a:prstGeom>
        </p:spPr>
      </p:pic>
      <p:pic>
        <p:nvPicPr>
          <p:cNvPr id="8" name="Graphic 7" descr="Presentation with checklist with solid fill">
            <a:extLst>
              <a:ext uri="{FF2B5EF4-FFF2-40B4-BE49-F238E27FC236}">
                <a16:creationId xmlns:a16="http://schemas.microsoft.com/office/drawing/2014/main" id="{D9FA958C-4F1C-5837-ED83-1118A4E540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187" y="3374253"/>
            <a:ext cx="457200" cy="457200"/>
          </a:xfrm>
          <a:prstGeom prst="rect">
            <a:avLst/>
          </a:prstGeom>
        </p:spPr>
      </p:pic>
      <p:pic>
        <p:nvPicPr>
          <p:cNvPr id="10" name="Graphic 9" descr="Mortgage with solid fill">
            <a:extLst>
              <a:ext uri="{FF2B5EF4-FFF2-40B4-BE49-F238E27FC236}">
                <a16:creationId xmlns:a16="http://schemas.microsoft.com/office/drawing/2014/main" id="{7F1D7E37-11E7-0EFC-F7D5-FDE340EC9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026" y="4844244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3E9DCA72-B34F-B89C-FCA2-8288F8B4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EFB3F68F-E53D-1AE4-BC8C-E1C9AD30BF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87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3EDADBF0-A521-1C4E-7203-EDC7144CD5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4404" y="2527621"/>
            <a:ext cx="3313340" cy="19184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0576211A-9237-3E69-A3B8-CF5E798052D0}"/>
              </a:ext>
            </a:extLst>
          </p:cNvPr>
          <p:cNvSpPr txBox="1"/>
          <p:nvPr/>
        </p:nvSpPr>
        <p:spPr>
          <a:xfrm>
            <a:off x="685722" y="2072523"/>
            <a:ext cx="331660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+mn-lt"/>
                <a:ea typeface="Lato"/>
                <a:cs typeface="Lato"/>
                <a:sym typeface="Lato"/>
              </a:rPr>
              <a:t>Mortgage Lenders</a:t>
            </a:r>
            <a:endParaRPr lang="en-US" sz="160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273ADED0-0FCD-E075-2A7D-ED8B99AC75B3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  <a:sym typeface="Cinzel"/>
              </a:rPr>
              <a:t>Client Opportunity</a:t>
            </a:r>
            <a:endParaRPr sz="1600"/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25633CD4-77EA-CFF1-F8AF-DCF474515A15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EA481DEE-78ED-A991-3843-6AB3C3AD05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2521704"/>
            <a:ext cx="3324225" cy="19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DC9B04A1-3BAC-17E0-B318-57E1DE8F7E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05825" y="2521704"/>
            <a:ext cx="3324225" cy="190754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6;p14">
            <a:extLst>
              <a:ext uri="{FF2B5EF4-FFF2-40B4-BE49-F238E27FC236}">
                <a16:creationId xmlns:a16="http://schemas.microsoft.com/office/drawing/2014/main" id="{D9833D72-E58F-027C-3A9A-D21392DF3D0A}"/>
              </a:ext>
            </a:extLst>
          </p:cNvPr>
          <p:cNvSpPr txBox="1"/>
          <p:nvPr/>
        </p:nvSpPr>
        <p:spPr>
          <a:xfrm>
            <a:off x="4718714" y="2079274"/>
            <a:ext cx="331660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+mj-lt"/>
                <a:ea typeface="Lato"/>
                <a:cs typeface="Lato"/>
                <a:sym typeface="Lato"/>
              </a:rPr>
              <a:t>Real Estate Developers</a:t>
            </a:r>
            <a:endParaRPr lang="en-US" sz="160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Google Shape;96;p14">
            <a:extLst>
              <a:ext uri="{FF2B5EF4-FFF2-40B4-BE49-F238E27FC236}">
                <a16:creationId xmlns:a16="http://schemas.microsoft.com/office/drawing/2014/main" id="{8C7DE877-8CC7-49E1-4E80-1C6C3D0D0475}"/>
              </a:ext>
            </a:extLst>
          </p:cNvPr>
          <p:cNvSpPr txBox="1"/>
          <p:nvPr/>
        </p:nvSpPr>
        <p:spPr>
          <a:xfrm>
            <a:off x="8666690" y="2057503"/>
            <a:ext cx="331660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+mn-lt"/>
                <a:ea typeface="Lato"/>
                <a:cs typeface="Lato"/>
              </a:rPr>
              <a:t>Non-Profits &amp; Govt</a:t>
            </a:r>
            <a:endParaRPr lang="en-US" sz="1950" b="1">
              <a:solidFill>
                <a:schemeClr val="accent6">
                  <a:lumMod val="75000"/>
                </a:schemeClr>
              </a:solidFill>
              <a:latin typeface="+mn-lt"/>
              <a:ea typeface="Lato"/>
              <a:cs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F2D048-8C21-19B2-12FA-09CBA3465728}"/>
              </a:ext>
            </a:extLst>
          </p:cNvPr>
          <p:cNvSpPr txBox="1"/>
          <p:nvPr/>
        </p:nvSpPr>
        <p:spPr>
          <a:xfrm>
            <a:off x="792714" y="2943998"/>
            <a:ext cx="284583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/>
              <a:t>Expanding branches, launching marketing campaigns, or target small business loan officers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FFE99-14A5-11C1-95AB-C20DF6E7DD7F}"/>
              </a:ext>
            </a:extLst>
          </p:cNvPr>
          <p:cNvSpPr txBox="1"/>
          <p:nvPr/>
        </p:nvSpPr>
        <p:spPr>
          <a:xfrm>
            <a:off x="4768866" y="2943995"/>
            <a:ext cx="284583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/>
              <a:t>Determine viability of new housing developments or investments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AB257-1CF4-9CCF-8931-22DEC90A54FF}"/>
              </a:ext>
            </a:extLst>
          </p:cNvPr>
          <p:cNvSpPr txBox="1"/>
          <p:nvPr/>
        </p:nvSpPr>
        <p:spPr>
          <a:xfrm>
            <a:off x="8671794" y="2963941"/>
            <a:ext cx="28458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/>
              <a:t>Consultation services on factors that would best improve mortgage rate approval.</a:t>
            </a:r>
          </a:p>
        </p:txBody>
      </p:sp>
      <p:pic>
        <p:nvPicPr>
          <p:cNvPr id="10" name="Graphic 9" descr="Bank with solid fill">
            <a:extLst>
              <a:ext uri="{FF2B5EF4-FFF2-40B4-BE49-F238E27FC236}">
                <a16:creationId xmlns:a16="http://schemas.microsoft.com/office/drawing/2014/main" id="{22E8221B-6450-1F2F-E43D-21DA05B4F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136" y="2031955"/>
            <a:ext cx="351178" cy="351178"/>
          </a:xfrm>
          <a:prstGeom prst="rect">
            <a:avLst/>
          </a:prstGeom>
        </p:spPr>
      </p:pic>
      <p:pic>
        <p:nvPicPr>
          <p:cNvPr id="12" name="Graphic 11" descr="Renovation (House With Sparkles) with solid fill">
            <a:extLst>
              <a:ext uri="{FF2B5EF4-FFF2-40B4-BE49-F238E27FC236}">
                <a16:creationId xmlns:a16="http://schemas.microsoft.com/office/drawing/2014/main" id="{5EA33D6F-5E2C-D496-EF1A-A3DBDE3F2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2018441"/>
            <a:ext cx="351178" cy="351178"/>
          </a:xfrm>
          <a:prstGeom prst="rect">
            <a:avLst/>
          </a:prstGeom>
        </p:spPr>
      </p:pic>
      <p:pic>
        <p:nvPicPr>
          <p:cNvPr id="14" name="Graphic 13" descr="Cheers with solid fill">
            <a:extLst>
              <a:ext uri="{FF2B5EF4-FFF2-40B4-BE49-F238E27FC236}">
                <a16:creationId xmlns:a16="http://schemas.microsoft.com/office/drawing/2014/main" id="{4E40FF53-0073-BF47-AF79-5CFB289E59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7252" y="2029327"/>
            <a:ext cx="351178" cy="3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0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6925"/>
            <a:ext cx="3492549" cy="458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66925"/>
            <a:ext cx="3492549" cy="458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66925"/>
            <a:ext cx="3492549" cy="458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94225" y="307657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latin typeface="+mn-lt"/>
                <a:ea typeface="Lato"/>
                <a:cs typeface="Lato"/>
                <a:sym typeface="Lato"/>
              </a:rPr>
              <a:t>Robust Dataset</a:t>
            </a:r>
            <a:endParaRPr sz="160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55328" y="3676739"/>
            <a:ext cx="290199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Loan Application Register (LAR)</a:t>
            </a:r>
            <a:endParaRPr lang="en-US" sz="1600">
              <a:ea typeface="Lato"/>
              <a:sym typeface="Lato"/>
            </a:endParaRP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Census</a:t>
            </a: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American Community Survey</a:t>
            </a: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 data. </a:t>
            </a:r>
            <a:endParaRPr lang="en-US" sz="1600">
              <a:ea typeface="Lato"/>
            </a:endParaRP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Aggregated by county level </a:t>
            </a: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572524" y="3076575"/>
            <a:ext cx="3047099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latin typeface="+mn-lt"/>
                <a:ea typeface="Lato"/>
                <a:cs typeface="Lato"/>
                <a:sym typeface="Lato"/>
              </a:rPr>
              <a:t>Geographic Scope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+mn-lt"/>
                <a:ea typeface="Lato"/>
                <a:cs typeface="Lato"/>
                <a:sym typeface="Lato"/>
              </a:rPr>
              <a:t> and Time</a:t>
            </a:r>
            <a:endParaRPr sz="160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54748" y="3903791"/>
            <a:ext cx="290199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10 States</a:t>
            </a:r>
            <a:endParaRPr lang="en-US" sz="1600">
              <a:ea typeface="Lato"/>
            </a:endParaRP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 Years 2019-2024 (excluding 2020)</a:t>
            </a:r>
            <a:endParaRPr lang="en-US" sz="1600">
              <a:ea typeface="Lato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350824" y="307657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latin typeface="+mn-lt"/>
                <a:ea typeface="Lato"/>
                <a:cs typeface="Lato"/>
                <a:sym typeface="Lato"/>
              </a:rPr>
              <a:t>Rigorous Cleaning</a:t>
            </a:r>
            <a:endParaRPr sz="160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441465" y="3903791"/>
            <a:ext cx="290199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20</a:t>
            </a: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million row and 800+ variables to </a:t>
            </a: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 </a:t>
            </a:r>
            <a:r>
              <a:rPr lang="en-US" sz="1600" b="1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1,264 observations</a:t>
            </a: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 and 67 variables.</a:t>
            </a:r>
            <a:endParaRPr lang="en-US" sz="1600" b="0" i="0" u="none" strike="noStrike" cap="none">
              <a:solidFill>
                <a:srgbClr val="334155"/>
              </a:solidFill>
              <a:ea typeface="Lato"/>
              <a:cs typeface="Lato"/>
            </a:endParaRP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Split 70/30 for Training/Test</a:t>
            </a: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675" y="2381250"/>
            <a:ext cx="36873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23812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381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Data Methodology</a:t>
            </a:r>
            <a:endParaRPr lang="en-US" sz="3200"/>
          </a:p>
        </p:txBody>
      </p:sp>
      <p:sp>
        <p:nvSpPr>
          <p:cNvPr id="123" name="Google Shape;123;p15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8FCA537F-6DE2-871B-CE7E-50C179D4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>
            <a:extLst>
              <a:ext uri="{FF2B5EF4-FFF2-40B4-BE49-F238E27FC236}">
                <a16:creationId xmlns:a16="http://schemas.microsoft.com/office/drawing/2014/main" id="{1CEC3DB0-AB2A-FD36-0002-03E60E2892F0}"/>
              </a:ext>
            </a:extLst>
          </p:cNvPr>
          <p:cNvSpPr/>
          <p:nvPr/>
        </p:nvSpPr>
        <p:spPr>
          <a:xfrm>
            <a:off x="571500" y="231278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FF0D85D3-1AF1-C061-D498-6791CB8DC33D}"/>
              </a:ext>
            </a:extLst>
          </p:cNvPr>
          <p:cNvSpPr/>
          <p:nvPr/>
        </p:nvSpPr>
        <p:spPr>
          <a:xfrm>
            <a:off x="571500" y="309755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FFB7BE84-951A-7F2A-8ABE-E7649B210239}"/>
              </a:ext>
            </a:extLst>
          </p:cNvPr>
          <p:cNvSpPr/>
          <p:nvPr/>
        </p:nvSpPr>
        <p:spPr>
          <a:xfrm>
            <a:off x="571500" y="388233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>
            <a:extLst>
              <a:ext uri="{FF2B5EF4-FFF2-40B4-BE49-F238E27FC236}">
                <a16:creationId xmlns:a16="http://schemas.microsoft.com/office/drawing/2014/main" id="{4134D751-3689-C165-D36D-CE693D23980C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Geographic Scope</a:t>
            </a:r>
          </a:p>
        </p:txBody>
      </p:sp>
      <p:sp>
        <p:nvSpPr>
          <p:cNvPr id="270" name="Google Shape;270;p24">
            <a:extLst>
              <a:ext uri="{FF2B5EF4-FFF2-40B4-BE49-F238E27FC236}">
                <a16:creationId xmlns:a16="http://schemas.microsoft.com/office/drawing/2014/main" id="{D3348A67-CA01-4CA6-F7C5-BBBE734D45C3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8B67DE-B416-9E9F-9964-5F8F6A2FEDD7}"/>
              </a:ext>
            </a:extLst>
          </p:cNvPr>
          <p:cNvSpPr txBox="1"/>
          <p:nvPr/>
        </p:nvSpPr>
        <p:spPr>
          <a:xfrm>
            <a:off x="431321" y="1873488"/>
            <a:ext cx="2817963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11480" indent="-200660">
              <a:buFont typeface="Arial"/>
              <a:buChar char="•"/>
            </a:pPr>
            <a:r>
              <a:rPr lang="en-US" sz="2400" kern="1200">
                <a:ea typeface="Canva Sans Bold"/>
                <a:cs typeface="Canva Sans Bold"/>
              </a:rPr>
              <a:t>California</a:t>
            </a:r>
          </a:p>
          <a:p>
            <a:pPr marL="411480" indent="-200660">
              <a:buFont typeface="Arial"/>
              <a:buChar char="•"/>
            </a:pPr>
            <a:r>
              <a:rPr lang="en-US" sz="2400" kern="1200">
                <a:ea typeface="Canva Sans Bold"/>
                <a:cs typeface="Canva Sans Bold"/>
              </a:rPr>
              <a:t>Florida</a:t>
            </a:r>
          </a:p>
          <a:p>
            <a:pPr marL="411480" indent="-200660" algn="l">
              <a:buFont typeface="Arial"/>
              <a:buChar char="•"/>
            </a:pPr>
            <a:r>
              <a:rPr lang="en-US" sz="2400" kern="1200">
                <a:ea typeface="Canva Sans Bold"/>
                <a:cs typeface="Canva Sans Bold"/>
              </a:rPr>
              <a:t>Georgia</a:t>
            </a:r>
            <a:endParaRPr lang="en-US" sz="2400" kern="1200">
              <a:solidFill>
                <a:srgbClr val="000000"/>
              </a:solidFill>
              <a:ea typeface="Canva Sans Bold"/>
              <a:cs typeface="Canva Sans Bold"/>
            </a:endParaRPr>
          </a:p>
          <a:p>
            <a:pPr marL="411480" indent="-200660">
              <a:buChar char="•"/>
            </a:pPr>
            <a:r>
              <a:rPr lang="en-US" sz="2400" kern="1200"/>
              <a:t>Missouri</a:t>
            </a:r>
          </a:p>
          <a:p>
            <a:pPr marL="411480" indent="-200660">
              <a:buChar char="•"/>
            </a:pPr>
            <a:r>
              <a:rPr lang="en-US" sz="2400" kern="1200"/>
              <a:t>New York</a:t>
            </a:r>
          </a:p>
          <a:p>
            <a:pPr marL="411480" indent="-200660">
              <a:buChar char="•"/>
            </a:pPr>
            <a:r>
              <a:rPr lang="en-US" sz="2400" kern="1200"/>
              <a:t>North Carolina</a:t>
            </a:r>
          </a:p>
          <a:p>
            <a:pPr marL="411480" indent="-200660">
              <a:buChar char="•"/>
            </a:pPr>
            <a:r>
              <a:rPr lang="en-US" sz="2400" kern="1200"/>
              <a:t>Ohio</a:t>
            </a:r>
          </a:p>
          <a:p>
            <a:pPr marL="411480" indent="-200660">
              <a:buChar char="•"/>
            </a:pPr>
            <a:r>
              <a:rPr lang="en-US" sz="2400" kern="1200"/>
              <a:t>Texas</a:t>
            </a:r>
          </a:p>
          <a:p>
            <a:pPr marL="411480" indent="-200660">
              <a:buChar char="•"/>
            </a:pPr>
            <a:r>
              <a:rPr lang="en-US" sz="2400" kern="1200"/>
              <a:t>Washington</a:t>
            </a:r>
          </a:p>
          <a:p>
            <a:pPr marL="411480" indent="-200660">
              <a:buChar char="•"/>
            </a:pPr>
            <a:r>
              <a:rPr lang="en-US" sz="2400" kern="1200"/>
              <a:t>Wisconsin</a:t>
            </a:r>
          </a:p>
          <a:p>
            <a:pPr algn="ctr"/>
            <a:endParaRPr lang="en-US"/>
          </a:p>
        </p:txBody>
      </p:sp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E9F5872D-6169-F375-780A-2161FA3A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753" y="1962643"/>
            <a:ext cx="6935638" cy="3843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CF6B06-62C3-0F7D-19B4-A7F1A597B25E}"/>
              </a:ext>
            </a:extLst>
          </p:cNvPr>
          <p:cNvSpPr txBox="1"/>
          <p:nvPr/>
        </p:nvSpPr>
        <p:spPr>
          <a:xfrm>
            <a:off x="9143999" y="6012492"/>
            <a:ext cx="274528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Generated via AI: Gemini Pro</a:t>
            </a:r>
          </a:p>
        </p:txBody>
      </p:sp>
    </p:spTree>
    <p:extLst>
      <p:ext uri="{BB962C8B-B14F-4D97-AF65-F5344CB8AC3E}">
        <p14:creationId xmlns:p14="http://schemas.microsoft.com/office/powerpoint/2010/main" val="228581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2DE6552D-3A84-4EA6-16F9-1C6F020FE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7834CBDE-4EBF-1AEE-5108-A4EF5A0B89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37860"/>
            <a:ext cx="11049000" cy="470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>
            <a:extLst>
              <a:ext uri="{FF2B5EF4-FFF2-40B4-BE49-F238E27FC236}">
                <a16:creationId xmlns:a16="http://schemas.microsoft.com/office/drawing/2014/main" id="{D577FC01-C06F-2788-0D13-C5B02D68AA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9413"/>
            <a:ext cx="3492549" cy="4109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66A1B83C-52B2-A940-309D-EA11C74C8D8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39413"/>
            <a:ext cx="3492549" cy="4109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>
            <a:extLst>
              <a:ext uri="{FF2B5EF4-FFF2-40B4-BE49-F238E27FC236}">
                <a16:creationId xmlns:a16="http://schemas.microsoft.com/office/drawing/2014/main" id="{CFBF7215-22BC-F7D2-03DC-65A24C06AF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39411"/>
            <a:ext cx="3492549" cy="410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>
            <a:extLst>
              <a:ext uri="{FF2B5EF4-FFF2-40B4-BE49-F238E27FC236}">
                <a16:creationId xmlns:a16="http://schemas.microsoft.com/office/drawing/2014/main" id="{B7ADD435-2329-4C34-9065-06CC376CBA31}"/>
              </a:ext>
            </a:extLst>
          </p:cNvPr>
          <p:cNvSpPr txBox="1"/>
          <p:nvPr/>
        </p:nvSpPr>
        <p:spPr>
          <a:xfrm>
            <a:off x="866774" y="2231636"/>
            <a:ext cx="30470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+mn-lt"/>
                <a:cs typeface="Lato"/>
                <a:sym typeface="Lato"/>
              </a:rPr>
              <a:t>Labor and Industry</a:t>
            </a:r>
            <a:endParaRPr sz="160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9341458D-854B-EA04-6D54-BD00FFAB3D72}"/>
              </a:ext>
            </a:extLst>
          </p:cNvPr>
          <p:cNvSpPr txBox="1"/>
          <p:nvPr/>
        </p:nvSpPr>
        <p:spPr>
          <a:xfrm>
            <a:off x="866774" y="2713055"/>
            <a:ext cx="290199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ctr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</a:rPr>
              <a:t>Unemployment Rate</a:t>
            </a:r>
          </a:p>
          <a:p>
            <a:pPr marL="285750" indent="-285750" algn="ctr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</a:rPr>
              <a:t>Percent Working from Home</a:t>
            </a:r>
          </a:p>
          <a:p>
            <a:pPr marL="285750" indent="-285750" algn="ctr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</a:rPr>
              <a:t>Percent Working in Transportation</a:t>
            </a:r>
          </a:p>
          <a:p>
            <a:pPr marL="285750" indent="-285750" algn="ctr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</a:rPr>
              <a:t>Percent in Manufacturing</a:t>
            </a: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F19273BA-ECA1-61D2-7291-E0C7DCC188A1}"/>
              </a:ext>
            </a:extLst>
          </p:cNvPr>
          <p:cNvSpPr txBox="1"/>
          <p:nvPr/>
        </p:nvSpPr>
        <p:spPr>
          <a:xfrm>
            <a:off x="4572450" y="2234613"/>
            <a:ext cx="30470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+mn-lt"/>
              </a:rPr>
              <a:t>Housing and Finance</a:t>
            </a:r>
            <a:endParaRPr sz="2000" b="1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AE0CFC7C-CAA0-821C-4E30-0312F2D62724}"/>
              </a:ext>
            </a:extLst>
          </p:cNvPr>
          <p:cNvSpPr txBox="1"/>
          <p:nvPr/>
        </p:nvSpPr>
        <p:spPr>
          <a:xfrm>
            <a:off x="4654748" y="2850166"/>
            <a:ext cx="2901999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ea typeface="Lato"/>
              </a:rPr>
              <a:t>Household Median Income</a:t>
            </a: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ea typeface="Lato"/>
              </a:rPr>
              <a:t>Percent with Mortgage</a:t>
            </a: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ea typeface="Lato"/>
              </a:rPr>
              <a:t>Gross Rent as percent of income</a:t>
            </a: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08D2BD53-CA49-6954-B6CF-20F6980A19AA}"/>
              </a:ext>
            </a:extLst>
          </p:cNvPr>
          <p:cNvSpPr txBox="1"/>
          <p:nvPr/>
        </p:nvSpPr>
        <p:spPr>
          <a:xfrm>
            <a:off x="8296365" y="2234613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latin typeface="+mn-lt"/>
                <a:ea typeface="Lato"/>
                <a:cs typeface="Lato"/>
                <a:sym typeface="Lato"/>
              </a:rPr>
              <a:t>Income and Poverty</a:t>
            </a:r>
            <a:endParaRPr sz="160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B997E773-81E2-4F09-51F1-0F81DDB84799}"/>
              </a:ext>
            </a:extLst>
          </p:cNvPr>
          <p:cNvSpPr txBox="1"/>
          <p:nvPr/>
        </p:nvSpPr>
        <p:spPr>
          <a:xfrm>
            <a:off x="8314486" y="2854569"/>
            <a:ext cx="3021741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  <a:sym typeface="Lato"/>
              </a:rPr>
              <a:t>Percent on SNAP</a:t>
            </a:r>
            <a:endParaRPr lang="en-US" sz="1600">
              <a:solidFill>
                <a:schemeClr val="tx1"/>
              </a:solidFill>
              <a:ea typeface="Lato"/>
              <a:cs typeface="Lato"/>
            </a:endParaRP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  <a:sym typeface="Lato"/>
              </a:rPr>
              <a:t>Public Health Insurance</a:t>
            </a:r>
            <a:endParaRPr lang="en-US" sz="1600">
              <a:solidFill>
                <a:schemeClr val="tx1"/>
              </a:solidFill>
              <a:ea typeface="Lato"/>
              <a:cs typeface="Lato"/>
            </a:endParaRPr>
          </a:p>
          <a:p>
            <a:pPr marL="285750" indent="-285750" algn="ctr">
              <a:lnSpc>
                <a:spcPct val="160000"/>
              </a:lnSpc>
              <a:buChar char="•"/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  <a:sym typeface="Lato"/>
              </a:rPr>
              <a:t>Percent below poverty line</a:t>
            </a:r>
            <a:endParaRPr lang="en-US" sz="1600">
              <a:solidFill>
                <a:schemeClr val="tx1"/>
              </a:solidFill>
              <a:ea typeface="Lato"/>
              <a:cs typeface="Lato"/>
            </a:endParaRPr>
          </a:p>
          <a:p>
            <a:pPr marL="285750" indent="-285750" algn="ctr">
              <a:lnSpc>
                <a:spcPct val="160000"/>
              </a:lnSpc>
              <a:buChar char="•"/>
            </a:pPr>
            <a:endParaRPr lang="en-US" sz="1600">
              <a:solidFill>
                <a:srgbClr val="334155"/>
              </a:solidFill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AEA4BDB-C0AB-56CD-C13A-D6751BC2059B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Variables</a:t>
            </a:r>
            <a:endParaRPr sz="1600"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73ABFB56-C0FE-F99E-D6B7-3D7209F23A3F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3;p15">
            <a:extLst>
              <a:ext uri="{FF2B5EF4-FFF2-40B4-BE49-F238E27FC236}">
                <a16:creationId xmlns:a16="http://schemas.microsoft.com/office/drawing/2014/main" id="{B9B44880-FEEA-10FC-923F-807E67B2417B}"/>
              </a:ext>
            </a:extLst>
          </p:cNvPr>
          <p:cNvSpPr txBox="1"/>
          <p:nvPr/>
        </p:nvSpPr>
        <p:spPr>
          <a:xfrm>
            <a:off x="388870" y="1519022"/>
            <a:ext cx="33799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+mn-lt"/>
                <a:cs typeface="Lato"/>
                <a:sym typeface="Lato"/>
              </a:rPr>
              <a:t>Dependent Variable:</a:t>
            </a:r>
            <a:endParaRPr sz="160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54BB3-9C54-3E23-700E-67477C12AD1C}"/>
              </a:ext>
            </a:extLst>
          </p:cNvPr>
          <p:cNvSpPr txBox="1"/>
          <p:nvPr/>
        </p:nvSpPr>
        <p:spPr>
          <a:xfrm>
            <a:off x="3143249" y="1416594"/>
            <a:ext cx="5455763" cy="43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00">
                <a:solidFill>
                  <a:schemeClr val="tx1"/>
                </a:solidFill>
                <a:ea typeface="Lato"/>
                <a:cs typeface="Lato"/>
              </a:rPr>
              <a:t>Mortgage Percent Approval Rate (</a:t>
            </a:r>
            <a:r>
              <a:rPr lang="en-US" sz="1600" err="1">
                <a:solidFill>
                  <a:schemeClr val="tx1"/>
                </a:solidFill>
                <a:ea typeface="Lato"/>
                <a:cs typeface="Lato"/>
              </a:rPr>
              <a:t>percent_approved</a:t>
            </a:r>
            <a:r>
              <a:rPr lang="en-US" sz="1600">
                <a:solidFill>
                  <a:schemeClr val="tx1"/>
                </a:solidFill>
                <a:ea typeface="Lato"/>
                <a:cs typeface="Lat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109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762000"/>
            <a:ext cx="52006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Exploratory Insights</a:t>
            </a:r>
            <a:endParaRPr sz="1600"/>
          </a:p>
        </p:txBody>
      </p:sp>
      <p:sp>
        <p:nvSpPr>
          <p:cNvPr id="130" name="Google Shape;130;p16"/>
          <p:cNvSpPr/>
          <p:nvPr/>
        </p:nvSpPr>
        <p:spPr>
          <a:xfrm>
            <a:off x="571500" y="1447800"/>
            <a:ext cx="4953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ECB566-0FCB-4680-7655-3BAE70D54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618911"/>
              </p:ext>
            </p:extLst>
          </p:nvPr>
        </p:nvGraphicFramePr>
        <p:xfrm>
          <a:off x="237067" y="1591733"/>
          <a:ext cx="11692467" cy="4936067"/>
        </p:xfrm>
        <a:graphic>
          <a:graphicData uri="http://schemas.openxmlformats.org/drawingml/2006/table">
            <a:tbl>
              <a:tblPr firstRow="1" bandRow="1"/>
              <a:tblGrid>
                <a:gridCol w="2933802">
                  <a:extLst>
                    <a:ext uri="{9D8B030D-6E8A-4147-A177-3AD203B41FA5}">
                      <a16:colId xmlns:a16="http://schemas.microsoft.com/office/drawing/2014/main" val="1123897303"/>
                    </a:ext>
                  </a:extLst>
                </a:gridCol>
                <a:gridCol w="1133886">
                  <a:extLst>
                    <a:ext uri="{9D8B030D-6E8A-4147-A177-3AD203B41FA5}">
                      <a16:colId xmlns:a16="http://schemas.microsoft.com/office/drawing/2014/main" val="398042797"/>
                    </a:ext>
                  </a:extLst>
                </a:gridCol>
                <a:gridCol w="1351491">
                  <a:extLst>
                    <a:ext uri="{9D8B030D-6E8A-4147-A177-3AD203B41FA5}">
                      <a16:colId xmlns:a16="http://schemas.microsoft.com/office/drawing/2014/main" val="4193548358"/>
                    </a:ext>
                  </a:extLst>
                </a:gridCol>
                <a:gridCol w="1568322">
                  <a:extLst>
                    <a:ext uri="{9D8B030D-6E8A-4147-A177-3AD203B41FA5}">
                      <a16:colId xmlns:a16="http://schemas.microsoft.com/office/drawing/2014/main" val="2671679638"/>
                    </a:ext>
                  </a:extLst>
                </a:gridCol>
                <a:gridCol w="1568322">
                  <a:extLst>
                    <a:ext uri="{9D8B030D-6E8A-4147-A177-3AD203B41FA5}">
                      <a16:colId xmlns:a16="http://schemas.microsoft.com/office/drawing/2014/main" val="451234508"/>
                    </a:ext>
                  </a:extLst>
                </a:gridCol>
                <a:gridCol w="1568322">
                  <a:extLst>
                    <a:ext uri="{9D8B030D-6E8A-4147-A177-3AD203B41FA5}">
                      <a16:colId xmlns:a16="http://schemas.microsoft.com/office/drawing/2014/main" val="3486082167"/>
                    </a:ext>
                  </a:extLst>
                </a:gridCol>
                <a:gridCol w="1568322">
                  <a:extLst>
                    <a:ext uri="{9D8B030D-6E8A-4147-A177-3AD203B41FA5}">
                      <a16:colId xmlns:a16="http://schemas.microsoft.com/office/drawing/2014/main" val="3532654881"/>
                    </a:ext>
                  </a:extLst>
                </a:gridCol>
              </a:tblGrid>
              <a:tr h="6939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SD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Min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Max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Skew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478605"/>
                  </a:ext>
                </a:extLst>
              </a:tr>
              <a:tr h="5324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Dep Var: Approval Rate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78.2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5.7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48.1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78.4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93.3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-.58</a:t>
                      </a:r>
                      <a:endParaRPr lang="en-US" sz="1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096172"/>
                  </a:ext>
                </a:extLst>
              </a:tr>
              <a:tr h="5652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Bachelor Degree</a:t>
                      </a: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34.8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10.9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11.7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33.6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73.8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.59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620717"/>
                  </a:ext>
                </a:extLst>
              </a:tr>
              <a:tr h="554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Grad Degree</a:t>
                      </a: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21.4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9.5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3.9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19.7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59.8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1.06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427197"/>
                  </a:ext>
                </a:extLst>
              </a:tr>
              <a:tr h="5332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Married Households</a:t>
                      </a: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19.1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9.6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19.2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30.8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.00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123531"/>
                  </a:ext>
                </a:extLst>
              </a:tr>
              <a:tr h="7027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Median Income</a:t>
                      </a: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72,897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18,867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32,157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69,492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168,154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1.09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81384"/>
                  </a:ext>
                </a:extLst>
              </a:tr>
              <a:tr h="5428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Poverty Rate</a:t>
                      </a: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11.6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4.1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11.2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36.9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.99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95765"/>
                  </a:ext>
                </a:extLst>
              </a:tr>
              <a:tr h="8106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Labor Force Part Rate</a:t>
                      </a:r>
                    </a:p>
                  </a:txBody>
                  <a:tcPr marL="78768" marR="78768" marT="39384" marB="39384">
                    <a:lnL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61.7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5.8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20.8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62.6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73.7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-1.35</a:t>
                      </a:r>
                    </a:p>
                  </a:txBody>
                  <a:tcPr marL="78768" marR="78768" marT="39384" marB="39384">
                    <a:lnL>
                      <a:noFill/>
                    </a:lnL>
                    <a:lnR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2197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>
          <a:extLst>
            <a:ext uri="{FF2B5EF4-FFF2-40B4-BE49-F238E27FC236}">
              <a16:creationId xmlns:a16="http://schemas.microsoft.com/office/drawing/2014/main" id="{BD5772FD-FB27-17D8-1F60-E5967A48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>
            <a:extLst>
              <a:ext uri="{FF2B5EF4-FFF2-40B4-BE49-F238E27FC236}">
                <a16:creationId xmlns:a16="http://schemas.microsoft.com/office/drawing/2014/main" id="{B1795DDC-C61C-9051-8486-1594F3E3F6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834189D9-1329-A7F0-A622-B768846AD50C}"/>
              </a:ext>
            </a:extLst>
          </p:cNvPr>
          <p:cNvSpPr txBox="1"/>
          <p:nvPr/>
        </p:nvSpPr>
        <p:spPr>
          <a:xfrm>
            <a:off x="571500" y="762000"/>
            <a:ext cx="52006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Exploratory Insights</a:t>
            </a:r>
            <a:endParaRPr sz="1600"/>
          </a:p>
        </p:txBody>
      </p: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61E38228-2D21-6DDB-B790-24756665DB90}"/>
              </a:ext>
            </a:extLst>
          </p:cNvPr>
          <p:cNvSpPr/>
          <p:nvPr/>
        </p:nvSpPr>
        <p:spPr>
          <a:xfrm>
            <a:off x="571500" y="1447800"/>
            <a:ext cx="4953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B95949A5-49CC-D340-89F6-0357E3C1C9AB}"/>
              </a:ext>
            </a:extLst>
          </p:cNvPr>
          <p:cNvSpPr txBox="1"/>
          <p:nvPr/>
        </p:nvSpPr>
        <p:spPr>
          <a:xfrm>
            <a:off x="278851" y="2082604"/>
            <a:ext cx="514551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60000"/>
              </a:lnSpc>
              <a:buChar char="•"/>
            </a:pPr>
            <a:r>
              <a:rPr lang="en-US" sz="2000">
                <a:solidFill>
                  <a:srgbClr val="334155"/>
                </a:solidFill>
                <a:ea typeface="Lato"/>
                <a:cs typeface="Lato"/>
                <a:sym typeface="Lato"/>
              </a:rPr>
              <a:t>Normally distributed (slight left skew)</a:t>
            </a:r>
            <a:endParaRPr lang="en-US" sz="2000">
              <a:solidFill>
                <a:srgbClr val="334155"/>
              </a:solidFill>
              <a:ea typeface="Lato"/>
              <a:cs typeface="Lato"/>
            </a:endParaRPr>
          </a:p>
          <a:p>
            <a:pPr>
              <a:lnSpc>
                <a:spcPct val="160000"/>
              </a:lnSpc>
            </a:pPr>
            <a:endParaRPr lang="en-US" sz="2000">
              <a:solidFill>
                <a:srgbClr val="334155"/>
              </a:solidFill>
              <a:ea typeface="Lato"/>
              <a:cs typeface="Lato"/>
            </a:endParaRPr>
          </a:p>
          <a:p>
            <a:pPr marL="342900" indent="-342900">
              <a:lnSpc>
                <a:spcPct val="160000"/>
              </a:lnSpc>
              <a:buChar char="•"/>
            </a:pPr>
            <a:r>
              <a:rPr lang="en-US" sz="2000">
                <a:solidFill>
                  <a:srgbClr val="334155"/>
                </a:solidFill>
                <a:ea typeface="Lato"/>
                <a:cs typeface="Lato"/>
              </a:rPr>
              <a:t>Most counties are around 80% approval odds</a:t>
            </a:r>
          </a:p>
        </p:txBody>
      </p:sp>
      <p:pic>
        <p:nvPicPr>
          <p:cNvPr id="3" name="Picture 2" descr="A graph of a distribution of percent approved&#10;&#10;AI-generated content may be incorrect.">
            <a:extLst>
              <a:ext uri="{FF2B5EF4-FFF2-40B4-BE49-F238E27FC236}">
                <a16:creationId xmlns:a16="http://schemas.microsoft.com/office/drawing/2014/main" id="{391BF440-5F53-B5A4-E82F-DF7E77F2B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216" y="876975"/>
            <a:ext cx="6335606" cy="5907642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418239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2DE8EFF7-5761-98FC-0921-99CBD853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>
            <a:extLst>
              <a:ext uri="{FF2B5EF4-FFF2-40B4-BE49-F238E27FC236}">
                <a16:creationId xmlns:a16="http://schemas.microsoft.com/office/drawing/2014/main" id="{947B591B-123C-6203-A5A4-F828A11B20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>
            <a:extLst>
              <a:ext uri="{FF2B5EF4-FFF2-40B4-BE49-F238E27FC236}">
                <a16:creationId xmlns:a16="http://schemas.microsoft.com/office/drawing/2014/main" id="{4F89F7B5-82C1-F826-ED9F-DC3DA2100C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6925"/>
            <a:ext cx="3492549" cy="458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B3027770-7B96-7FCE-8E99-30032FDE55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66925"/>
            <a:ext cx="3492549" cy="458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>
            <a:extLst>
              <a:ext uri="{FF2B5EF4-FFF2-40B4-BE49-F238E27FC236}">
                <a16:creationId xmlns:a16="http://schemas.microsoft.com/office/drawing/2014/main" id="{90211BA3-80EF-20E8-F493-C18B19AB047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66925"/>
            <a:ext cx="3492549" cy="458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>
            <a:extLst>
              <a:ext uri="{FF2B5EF4-FFF2-40B4-BE49-F238E27FC236}">
                <a16:creationId xmlns:a16="http://schemas.microsoft.com/office/drawing/2014/main" id="{14C615E2-76A6-1DB8-2D31-FE502677AC19}"/>
              </a:ext>
            </a:extLst>
          </p:cNvPr>
          <p:cNvSpPr txBox="1"/>
          <p:nvPr/>
        </p:nvSpPr>
        <p:spPr>
          <a:xfrm>
            <a:off x="794225" y="307657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</a:rPr>
              <a:t>Autocorrelation</a:t>
            </a:r>
            <a:endParaRPr lang="en-US" sz="1950" b="1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7AC995E5-CAB3-D05E-7DA2-382CD33B0F6A}"/>
              </a:ext>
            </a:extLst>
          </p:cNvPr>
          <p:cNvSpPr txBox="1"/>
          <p:nvPr/>
        </p:nvSpPr>
        <p:spPr>
          <a:xfrm>
            <a:off x="866775" y="3571875"/>
            <a:ext cx="2901999" cy="228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00">
                <a:ea typeface="Lato"/>
              </a:rPr>
              <a:t>Durbin-Watson Test</a:t>
            </a:r>
          </a:p>
          <a:p>
            <a:pPr algn="ctr">
              <a:lnSpc>
                <a:spcPct val="160000"/>
              </a:lnSpc>
            </a:pP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  <a:p>
            <a:pPr algn="ctr">
              <a:lnSpc>
                <a:spcPct val="160000"/>
              </a:lnSpc>
            </a:pPr>
            <a:r>
              <a:rPr lang="en-US" sz="1600">
                <a:ea typeface="Lato"/>
              </a:rPr>
              <a:t>Initial: 1.28 (High)</a:t>
            </a:r>
          </a:p>
          <a:p>
            <a:pPr algn="ctr">
              <a:lnSpc>
                <a:spcPct val="160000"/>
              </a:lnSpc>
            </a:pPr>
            <a:r>
              <a:rPr lang="en-US" sz="1600">
                <a:ea typeface="Lato"/>
              </a:rPr>
              <a:t>With Lag: 1.83 (Moderate)</a:t>
            </a:r>
          </a:p>
          <a:p>
            <a:pPr algn="ctr">
              <a:lnSpc>
                <a:spcPct val="160000"/>
              </a:lnSpc>
            </a:pPr>
            <a:endParaRPr lang="en-US" sz="1500">
              <a:solidFill>
                <a:srgbClr val="334155"/>
              </a:solidFill>
              <a:ea typeface="Lato"/>
              <a:cs typeface="Lato"/>
            </a:endParaRPr>
          </a:p>
          <a:p>
            <a:pPr algn="ctr">
              <a:lnSpc>
                <a:spcPct val="160000"/>
              </a:lnSpc>
            </a:pPr>
            <a:endParaRPr lang="en-US">
              <a:ea typeface="Lato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EFCC6CD9-C43B-0E65-A10C-E5FBE469714F}"/>
              </a:ext>
            </a:extLst>
          </p:cNvPr>
          <p:cNvSpPr txBox="1"/>
          <p:nvPr/>
        </p:nvSpPr>
        <p:spPr>
          <a:xfrm>
            <a:off x="4572524" y="3076575"/>
            <a:ext cx="30470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sym typeface="Lato"/>
              </a:rPr>
              <a:t>Heteroscedasticity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24858874-46FC-D5A3-C2D6-C5F5B5651A59}"/>
              </a:ext>
            </a:extLst>
          </p:cNvPr>
          <p:cNvSpPr txBox="1"/>
          <p:nvPr/>
        </p:nvSpPr>
        <p:spPr>
          <a:xfrm>
            <a:off x="4645074" y="3571875"/>
            <a:ext cx="290199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00" err="1">
                <a:solidFill>
                  <a:srgbClr val="334155"/>
                </a:solidFill>
                <a:ea typeface="Lato"/>
                <a:cs typeface="Lato"/>
              </a:rPr>
              <a:t>Breush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-Pagan Test</a:t>
            </a:r>
          </a:p>
          <a:p>
            <a:pPr algn="ctr">
              <a:lnSpc>
                <a:spcPct val="160000"/>
              </a:lnSpc>
            </a:pP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  <a:p>
            <a:pPr algn="ctr">
              <a:lnSpc>
                <a:spcPct val="160000"/>
              </a:lnSpc>
            </a:pPr>
            <a:r>
              <a:rPr lang="en-US" sz="1600" b="1">
                <a:solidFill>
                  <a:srgbClr val="334155"/>
                </a:solidFill>
                <a:ea typeface="Lato"/>
                <a:cs typeface="Lato"/>
              </a:rPr>
              <a:t>Failed</a:t>
            </a:r>
          </a:p>
          <a:p>
            <a:pPr algn="ctr">
              <a:lnSpc>
                <a:spcPct val="160000"/>
              </a:lnSpc>
            </a:pP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  <a:p>
            <a:pPr algn="ctr">
              <a:lnSpc>
                <a:spcPct val="160000"/>
              </a:lnSpc>
            </a:pPr>
            <a:r>
              <a:rPr lang="en-US" sz="1600" i="1">
                <a:solidFill>
                  <a:srgbClr val="334155"/>
                </a:solidFill>
                <a:ea typeface="Lato"/>
                <a:cs typeface="Lato"/>
              </a:rPr>
              <a:t>Variance is not constant.</a:t>
            </a:r>
            <a:r>
              <a:rPr lang="en-US" sz="1600" i="1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F20F8FCF-66DD-EE56-869C-2058DCB25531}"/>
              </a:ext>
            </a:extLst>
          </p:cNvPr>
          <p:cNvSpPr txBox="1"/>
          <p:nvPr/>
        </p:nvSpPr>
        <p:spPr>
          <a:xfrm>
            <a:off x="8350824" y="307657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Multicollinearity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9" name="Google Shape;119;p15" descr="Arrow circle with solid fill">
            <a:extLst>
              <a:ext uri="{FF2B5EF4-FFF2-40B4-BE49-F238E27FC236}">
                <a16:creationId xmlns:a16="http://schemas.microsoft.com/office/drawing/2014/main" id="{A35E0880-E045-5249-25F0-0D860A6E1489}"/>
              </a:ext>
            </a:extLst>
          </p:cNvPr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916393" y="2353597"/>
            <a:ext cx="785677" cy="685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Scatterplot with solid fill">
            <a:extLst>
              <a:ext uri="{FF2B5EF4-FFF2-40B4-BE49-F238E27FC236}">
                <a16:creationId xmlns:a16="http://schemas.microsoft.com/office/drawing/2014/main" id="{6F8445B7-1A24-237E-645B-AB444D4800C7}"/>
              </a:ext>
            </a:extLst>
          </p:cNvPr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52381" y="2381250"/>
            <a:ext cx="658483" cy="6584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42C2B692-4839-074E-BFF7-ECF88D62AE7A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Testing Assumptions</a:t>
            </a: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68BAB419-1EE7-F5CD-67FE-DF047669D45A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0;p15" descr="Bar graph with upward trend outline">
            <a:extLst>
              <a:ext uri="{FF2B5EF4-FFF2-40B4-BE49-F238E27FC236}">
                <a16:creationId xmlns:a16="http://schemas.microsoft.com/office/drawing/2014/main" id="{22179E12-4272-DDC8-27CE-5944847C9239}"/>
              </a:ext>
            </a:extLst>
          </p:cNvPr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41503" y="2381249"/>
            <a:ext cx="658483" cy="65848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6;p15">
            <a:extLst>
              <a:ext uri="{FF2B5EF4-FFF2-40B4-BE49-F238E27FC236}">
                <a16:creationId xmlns:a16="http://schemas.microsoft.com/office/drawing/2014/main" id="{B3A8764C-BA84-A53A-029C-415A875F2486}"/>
              </a:ext>
            </a:extLst>
          </p:cNvPr>
          <p:cNvSpPr txBox="1"/>
          <p:nvPr/>
        </p:nvSpPr>
        <p:spPr>
          <a:xfrm>
            <a:off x="8488621" y="3571874"/>
            <a:ext cx="290199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CI and VIF Analysis</a:t>
            </a:r>
          </a:p>
          <a:p>
            <a:pPr algn="ctr">
              <a:lnSpc>
                <a:spcPct val="160000"/>
              </a:lnSpc>
            </a:pP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  <a:p>
            <a:pPr algn="ctr">
              <a:lnSpc>
                <a:spcPct val="160000"/>
              </a:lnSpc>
            </a:pPr>
            <a:r>
              <a:rPr lang="en-US" sz="1600" b="1">
                <a:solidFill>
                  <a:srgbClr val="334155"/>
                </a:solidFill>
                <a:ea typeface="Lato"/>
                <a:cs typeface="Lato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6157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Model Selection</a:t>
            </a:r>
            <a:endParaRPr sz="1600"/>
          </a:p>
        </p:txBody>
      </p:sp>
      <p:sp>
        <p:nvSpPr>
          <p:cNvPr id="172" name="Google Shape;172;p18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4;p14" descr="image.png">
            <a:extLst>
              <a:ext uri="{FF2B5EF4-FFF2-40B4-BE49-F238E27FC236}">
                <a16:creationId xmlns:a16="http://schemas.microsoft.com/office/drawing/2014/main" id="{37B63D1C-D2C9-F86E-ABB5-819CA57DF0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55872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F5AA75-B50A-4FD7-A548-550D20A61669}"/>
              </a:ext>
            </a:extLst>
          </p:cNvPr>
          <p:cNvSpPr txBox="1"/>
          <p:nvPr/>
        </p:nvSpPr>
        <p:spPr>
          <a:xfrm>
            <a:off x="572746" y="2211473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Linear Regression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pic>
        <p:nvPicPr>
          <p:cNvPr id="11" name="Google Shape;94;p14" descr="image.png">
            <a:extLst>
              <a:ext uri="{FF2B5EF4-FFF2-40B4-BE49-F238E27FC236}">
                <a16:creationId xmlns:a16="http://schemas.microsoft.com/office/drawing/2014/main" id="{29FEC553-8456-EC76-ED7E-AF311F4EE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6321" y="2059810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Google Shape;94;p14" descr="image.png">
            <a:extLst>
              <a:ext uri="{FF2B5EF4-FFF2-40B4-BE49-F238E27FC236}">
                <a16:creationId xmlns:a16="http://schemas.microsoft.com/office/drawing/2014/main" id="{B599B3D7-5CEE-E0E8-8E0A-A72C3AFA4A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6485" y="2055871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Google Shape;94;p14" descr="image.png">
            <a:extLst>
              <a:ext uri="{FF2B5EF4-FFF2-40B4-BE49-F238E27FC236}">
                <a16:creationId xmlns:a16="http://schemas.microsoft.com/office/drawing/2014/main" id="{1A3AEAD7-D343-8646-0771-642BA98BCC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013" y="3766776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Google Shape;94;p14" descr="image.png">
            <a:extLst>
              <a:ext uri="{FF2B5EF4-FFF2-40B4-BE49-F238E27FC236}">
                <a16:creationId xmlns:a16="http://schemas.microsoft.com/office/drawing/2014/main" id="{4C93A7C3-8060-EE55-E96A-797E73C8A3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7654" y="3766775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7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Google Shape;94;p14" descr="image.png">
            <a:extLst>
              <a:ext uri="{FF2B5EF4-FFF2-40B4-BE49-F238E27FC236}">
                <a16:creationId xmlns:a16="http://schemas.microsoft.com/office/drawing/2014/main" id="{95349ACC-F171-F0D9-7AD9-EFCED91370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6483" y="3766774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Google Shape;94;p14" descr="image.png">
            <a:extLst>
              <a:ext uri="{FF2B5EF4-FFF2-40B4-BE49-F238E27FC236}">
                <a16:creationId xmlns:a16="http://schemas.microsoft.com/office/drawing/2014/main" id="{3ACB860C-C0C3-86B3-B03C-6BE11568D9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011" y="5607075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Google Shape;94;p14" descr="image.png">
            <a:extLst>
              <a:ext uri="{FF2B5EF4-FFF2-40B4-BE49-F238E27FC236}">
                <a16:creationId xmlns:a16="http://schemas.microsoft.com/office/drawing/2014/main" id="{5E010B1A-8CD9-995A-4E3D-C0C712A4BC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7652" y="5607074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Google Shape;94;p14" descr="image.png">
            <a:extLst>
              <a:ext uri="{FF2B5EF4-FFF2-40B4-BE49-F238E27FC236}">
                <a16:creationId xmlns:a16="http://schemas.microsoft.com/office/drawing/2014/main" id="{328E3AF8-E48D-2479-AC86-2EBF822B6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6482" y="5607073"/>
            <a:ext cx="2478719" cy="674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8A6BFC-6644-7920-AD5A-82094EDC3655}"/>
              </a:ext>
            </a:extLst>
          </p:cNvPr>
          <p:cNvSpPr txBox="1"/>
          <p:nvPr/>
        </p:nvSpPr>
        <p:spPr>
          <a:xfrm>
            <a:off x="4497568" y="2211472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Elastic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1554AF-A169-D64C-CE14-D6DC014F25FD}"/>
              </a:ext>
            </a:extLst>
          </p:cNvPr>
          <p:cNvSpPr txBox="1"/>
          <p:nvPr/>
        </p:nvSpPr>
        <p:spPr>
          <a:xfrm>
            <a:off x="8787732" y="2211472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Elastic (Best Alpha)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04646-0F19-9AB7-C97E-3AF23BEB8FBF}"/>
              </a:ext>
            </a:extLst>
          </p:cNvPr>
          <p:cNvSpPr txBox="1"/>
          <p:nvPr/>
        </p:nvSpPr>
        <p:spPr>
          <a:xfrm>
            <a:off x="8787732" y="3923362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Ridge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5059E1-F231-0212-35F7-FFCBBD73260D}"/>
              </a:ext>
            </a:extLst>
          </p:cNvPr>
          <p:cNvSpPr txBox="1"/>
          <p:nvPr/>
        </p:nvSpPr>
        <p:spPr>
          <a:xfrm>
            <a:off x="4476691" y="3923361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err="1">
                <a:solidFill>
                  <a:schemeClr val="accent6">
                    <a:lumMod val="76000"/>
                  </a:schemeClr>
                </a:solidFill>
              </a:rPr>
              <a:t>XGBoost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E0AE88-C0CF-68A9-E397-BB7799B28A2E}"/>
              </a:ext>
            </a:extLst>
          </p:cNvPr>
          <p:cNvSpPr txBox="1"/>
          <p:nvPr/>
        </p:nvSpPr>
        <p:spPr>
          <a:xfrm>
            <a:off x="572746" y="3923360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LASSO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8C060B-335D-C186-5556-B32F51F18072}"/>
              </a:ext>
            </a:extLst>
          </p:cNvPr>
          <p:cNvSpPr txBox="1"/>
          <p:nvPr/>
        </p:nvSpPr>
        <p:spPr>
          <a:xfrm>
            <a:off x="562308" y="5760511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Random Forest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3FDDEB-AA9B-F875-4AE2-EEB4742214CE}"/>
              </a:ext>
            </a:extLst>
          </p:cNvPr>
          <p:cNvSpPr txBox="1"/>
          <p:nvPr/>
        </p:nvSpPr>
        <p:spPr>
          <a:xfrm>
            <a:off x="4501506" y="5631115"/>
            <a:ext cx="24849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Random Forest (Best </a:t>
            </a:r>
            <a:r>
              <a:rPr lang="en-US" sz="1800" err="1">
                <a:solidFill>
                  <a:schemeClr val="accent6">
                    <a:lumMod val="76000"/>
                  </a:schemeClr>
                </a:solidFill>
              </a:rPr>
              <a:t>Mtry</a:t>
            </a:r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)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7FEDD-ABFA-DB08-D625-1069E37D1289}"/>
              </a:ext>
            </a:extLst>
          </p:cNvPr>
          <p:cNvSpPr txBox="1"/>
          <p:nvPr/>
        </p:nvSpPr>
        <p:spPr>
          <a:xfrm>
            <a:off x="8777292" y="5760511"/>
            <a:ext cx="2484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err="1">
                <a:solidFill>
                  <a:schemeClr val="accent6">
                    <a:lumMod val="76000"/>
                  </a:schemeClr>
                </a:solidFill>
              </a:rPr>
              <a:t>XGBoost</a:t>
            </a:r>
            <a:r>
              <a:rPr lang="en-US" sz="1800">
                <a:solidFill>
                  <a:schemeClr val="accent6">
                    <a:lumMod val="76000"/>
                  </a:schemeClr>
                </a:solidFill>
              </a:rPr>
              <a:t> (No Lag)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51770DD2-04C6-F5EE-DBC6-A6BB32E9B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>
            <a:extLst>
              <a:ext uri="{FF2B5EF4-FFF2-40B4-BE49-F238E27FC236}">
                <a16:creationId xmlns:a16="http://schemas.microsoft.com/office/drawing/2014/main" id="{E1228C2F-7FB1-9153-8CA9-2EC08F927B2F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Model Selection</a:t>
            </a:r>
            <a:endParaRPr sz="1600"/>
          </a:p>
        </p:txBody>
      </p: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35010EC2-8F70-6EF4-C6D6-AB19EED6A140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A35050-0032-ED3B-A30E-DEB1C067B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13208"/>
              </p:ext>
            </p:extLst>
          </p:nvPr>
        </p:nvGraphicFramePr>
        <p:xfrm>
          <a:off x="1038086" y="1711738"/>
          <a:ext cx="10127816" cy="4481394"/>
        </p:xfrm>
        <a:graphic>
          <a:graphicData uri="http://schemas.openxmlformats.org/drawingml/2006/table">
            <a:tbl>
              <a:tblPr firstRow="1" firstCol="1" bandRow="1">
                <a:tableStyleId>{8848685E-7C59-487D-B7DD-59912A5C7011}</a:tableStyleId>
              </a:tblPr>
              <a:tblGrid>
                <a:gridCol w="2531954">
                  <a:extLst>
                    <a:ext uri="{9D8B030D-6E8A-4147-A177-3AD203B41FA5}">
                      <a16:colId xmlns:a16="http://schemas.microsoft.com/office/drawing/2014/main" val="3957450998"/>
                    </a:ext>
                  </a:extLst>
                </a:gridCol>
                <a:gridCol w="2531954">
                  <a:extLst>
                    <a:ext uri="{9D8B030D-6E8A-4147-A177-3AD203B41FA5}">
                      <a16:colId xmlns:a16="http://schemas.microsoft.com/office/drawing/2014/main" val="954224183"/>
                    </a:ext>
                  </a:extLst>
                </a:gridCol>
                <a:gridCol w="2531954">
                  <a:extLst>
                    <a:ext uri="{9D8B030D-6E8A-4147-A177-3AD203B41FA5}">
                      <a16:colId xmlns:a16="http://schemas.microsoft.com/office/drawing/2014/main" val="3186651585"/>
                    </a:ext>
                  </a:extLst>
                </a:gridCol>
                <a:gridCol w="2531954">
                  <a:extLst>
                    <a:ext uri="{9D8B030D-6E8A-4147-A177-3AD203B41FA5}">
                      <a16:colId xmlns:a16="http://schemas.microsoft.com/office/drawing/2014/main" val="855632877"/>
                    </a:ext>
                  </a:extLst>
                </a:gridCol>
              </a:tblGrid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RMSE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Adjusted_R2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910261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XGBoost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2.739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2.126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.724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82601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2.796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2.191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.763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47042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Elastic (best alpha)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2.789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2.176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.714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653301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Elastic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2.814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2.188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.709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61445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LASSO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2.819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2.193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.708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380870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Ridge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2.860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2.243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.699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435000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Random Forest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3.212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2.607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.621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219906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Random Forest (</a:t>
                      </a:r>
                      <a:r>
                        <a:rPr lang="en-US" sz="200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Mtry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3.166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2.507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.631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52240"/>
                  </a:ext>
                </a:extLst>
              </a:tr>
              <a:tr h="4026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XGBoost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200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NoLag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3.214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2.487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.621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283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865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755F6A21-9742-CA04-6A67-F2D25064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641B3442-DE6F-4B5C-D62F-8D8DDB250D5E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97D59508-4ECB-B328-7A30-EBD0F5D7EE27}"/>
              </a:ext>
            </a:extLst>
          </p:cNvPr>
          <p:cNvSpPr txBox="1"/>
          <p:nvPr/>
        </p:nvSpPr>
        <p:spPr>
          <a:xfrm>
            <a:off x="571500" y="1719523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Why the best model?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Google Shape;186;p19">
            <a:extLst>
              <a:ext uri="{FF2B5EF4-FFF2-40B4-BE49-F238E27FC236}">
                <a16:creationId xmlns:a16="http://schemas.microsoft.com/office/drawing/2014/main" id="{B02AFE4F-6C85-25AA-B0EF-E6B0C68BFBDF}"/>
              </a:ext>
            </a:extLst>
          </p:cNvPr>
          <p:cNvSpPr txBox="1"/>
          <p:nvPr/>
        </p:nvSpPr>
        <p:spPr>
          <a:xfrm>
            <a:off x="307550" y="2128706"/>
            <a:ext cx="4857750" cy="3914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500" b="1">
              <a:solidFill>
                <a:srgbClr val="334155"/>
              </a:solidFill>
              <a:ea typeface="Lato"/>
              <a:cs typeface="La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334155"/>
                </a:solidFill>
                <a:ea typeface="Lato"/>
                <a:cs typeface="Lato"/>
                <a:sym typeface="Lato"/>
              </a:rPr>
              <a:t>Lowest RMSE &amp; MAE: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 best predictive accuracy</a:t>
            </a: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600" b="1">
              <a:solidFill>
                <a:srgbClr val="334155"/>
              </a:solidFill>
              <a:ea typeface="Lato"/>
              <a:cs typeface="La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334155"/>
                </a:solidFill>
                <a:ea typeface="Lato"/>
                <a:cs typeface="Lato"/>
              </a:rPr>
              <a:t>Multicollinearity: 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Handles well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600" b="1">
              <a:solidFill>
                <a:srgbClr val="334155"/>
              </a:solidFill>
              <a:ea typeface="Lato"/>
              <a:cs typeface="La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334155"/>
                </a:solidFill>
                <a:ea typeface="Lato"/>
                <a:cs typeface="Lato"/>
              </a:rPr>
              <a:t>Performs nonlinear modeling and interaction detection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600" b="1">
              <a:solidFill>
                <a:srgbClr val="334155"/>
              </a:solidFill>
              <a:ea typeface="Lato"/>
              <a:cs typeface="La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334155"/>
                </a:solidFill>
                <a:ea typeface="Lato"/>
                <a:cs typeface="Lato"/>
              </a:rPr>
              <a:t>Lag Variable: 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Allows model to capture year-to year economic dependencies</a:t>
            </a:r>
          </a:p>
        </p:txBody>
      </p:sp>
      <p:sp>
        <p:nvSpPr>
          <p:cNvPr id="7" name="Google Shape;188;p19">
            <a:extLst>
              <a:ext uri="{FF2B5EF4-FFF2-40B4-BE49-F238E27FC236}">
                <a16:creationId xmlns:a16="http://schemas.microsoft.com/office/drawing/2014/main" id="{3B6E8D4C-48A6-ABBF-1C7E-F1C5314B5178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err="1">
                <a:solidFill>
                  <a:srgbClr val="0F172A"/>
                </a:solidFill>
              </a:rPr>
              <a:t>XGBoost</a:t>
            </a:r>
            <a:endParaRPr lang="en-US" sz="3200" b="1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597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2043112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Visualizing Success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2538412"/>
            <a:ext cx="2426224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The scatter plot compares our model's Predicted Approval Rates against the Actual Rates.</a:t>
            </a:r>
            <a:endParaRPr sz="1600"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Predictive Accuracy</a:t>
            </a:r>
            <a:endParaRPr sz="1600"/>
          </a:p>
        </p:txBody>
      </p:sp>
      <p:sp>
        <p:nvSpPr>
          <p:cNvPr id="189" name="Google Shape;189;p19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A4F924-9E97-3BE4-0E49-11AC607CC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843" y="1479232"/>
            <a:ext cx="8658656" cy="4624064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430005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67586" y="2071687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The "Lag" Factor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67585" y="2473042"/>
            <a:ext cx="2543259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Previous</a:t>
            </a:r>
            <a:r>
              <a:rPr lang="en-US" sz="160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 year's approval rate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 greatest predictor</a:t>
            </a: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67586" y="3674236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Why this matters?</a:t>
            </a:r>
            <a:endParaRPr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67587" y="4065152"/>
            <a:ext cx="2543258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Economic conditions change slowly.</a:t>
            </a: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Primary Driver: Historical Momentum</a:t>
            </a:r>
            <a:endParaRPr sz="1600"/>
          </a:p>
        </p:txBody>
      </p:sp>
      <p:sp>
        <p:nvSpPr>
          <p:cNvPr id="202" name="Google Shape;202;p20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24C0C-3A8A-0B80-8CED-34A04AB808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100" y="1408304"/>
            <a:ext cx="8901850" cy="5449696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499" y="2038995"/>
            <a:ext cx="11037957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>
                <a:ea typeface="Lato"/>
                <a:sym typeface="Lato"/>
              </a:rPr>
              <a:t>When we control for historical data (remove the lag variable), and run another </a:t>
            </a:r>
            <a:r>
              <a:rPr lang="en-US" sz="2000" err="1">
                <a:ea typeface="Lato"/>
                <a:sym typeface="Lato"/>
              </a:rPr>
              <a:t>XGBoost</a:t>
            </a:r>
            <a:r>
              <a:rPr lang="en-US" sz="2000">
                <a:ea typeface="Lato"/>
                <a:sym typeface="Lato"/>
              </a:rPr>
              <a:t>, the core economic fundamentals emerge as key predictors:</a:t>
            </a:r>
            <a:endParaRPr sz="2000"/>
          </a:p>
        </p:txBody>
      </p:sp>
      <p:sp>
        <p:nvSpPr>
          <p:cNvPr id="209" name="Google Shape;209;p21"/>
          <p:cNvSpPr txBox="1"/>
          <p:nvPr/>
        </p:nvSpPr>
        <p:spPr>
          <a:xfrm>
            <a:off x="941457" y="3678513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Private Health Insurance</a:t>
            </a:r>
            <a:endParaRPr lang="en-US" sz="2000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941457" y="4831038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Unemployment Rate</a:t>
            </a:r>
            <a:endParaRPr lang="en-US" sz="2000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656457" y="3678513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i="0" u="none" strike="noStrike" cap="none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Commuting Habits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 (Carpooling)</a:t>
            </a:r>
            <a:endParaRPr lang="en-US" sz="2000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656457" y="4831038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  <a:sym typeface="Lato"/>
              </a:rPr>
              <a:t>Work from Home</a:t>
            </a:r>
            <a:endParaRPr lang="en-US" sz="2000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Underlying Economic Drivers</a:t>
            </a:r>
            <a:endParaRPr sz="1600"/>
          </a:p>
        </p:txBody>
      </p:sp>
      <p:sp>
        <p:nvSpPr>
          <p:cNvPr id="214" name="Google Shape;214;p21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457" y="369756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457" y="485008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5457" y="369756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5457" y="4850088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BA1A62A9-0BBD-D613-D012-B2337018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85088B75-4641-3137-A100-90E8D353DAA2}"/>
              </a:ext>
            </a:extLst>
          </p:cNvPr>
          <p:cNvSpPr txBox="1"/>
          <p:nvPr/>
        </p:nvSpPr>
        <p:spPr>
          <a:xfrm>
            <a:off x="1102935" y="2022948"/>
            <a:ext cx="103213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400">
                <a:solidFill>
                  <a:srgbClr val="334155"/>
                </a:solidFill>
                <a:ea typeface="Lato"/>
                <a:cs typeface="Lato"/>
              </a:rPr>
              <a:t>Mortgage approval patterns are highly persistent across years</a:t>
            </a: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B7799914-80BA-88CB-3150-BAB76D27C005}"/>
              </a:ext>
            </a:extLst>
          </p:cNvPr>
          <p:cNvSpPr txBox="1"/>
          <p:nvPr/>
        </p:nvSpPr>
        <p:spPr>
          <a:xfrm>
            <a:off x="1102935" y="3850335"/>
            <a:ext cx="781183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400">
                <a:solidFill>
                  <a:srgbClr val="334155"/>
                </a:solidFill>
                <a:ea typeface="Lato"/>
                <a:cs typeface="Lato"/>
              </a:rPr>
              <a:t>Lag feature is the strongest single predictor</a:t>
            </a:r>
          </a:p>
        </p:txBody>
      </p:sp>
      <p:sp>
        <p:nvSpPr>
          <p:cNvPr id="211" name="Google Shape;211;p21">
            <a:extLst>
              <a:ext uri="{FF2B5EF4-FFF2-40B4-BE49-F238E27FC236}">
                <a16:creationId xmlns:a16="http://schemas.microsoft.com/office/drawing/2014/main" id="{1B5C2535-A0A3-E6CF-C2C6-C33C350FACBB}"/>
              </a:ext>
            </a:extLst>
          </p:cNvPr>
          <p:cNvSpPr txBox="1"/>
          <p:nvPr/>
        </p:nvSpPr>
        <p:spPr>
          <a:xfrm>
            <a:off x="1102935" y="2955914"/>
            <a:ext cx="1110367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400">
                <a:solidFill>
                  <a:srgbClr val="334155"/>
                </a:solidFill>
                <a:ea typeface="Lato"/>
                <a:cs typeface="Lato"/>
              </a:rPr>
              <a:t>High-income, economically stable counties tend to show higher approval rates</a:t>
            </a:r>
          </a:p>
        </p:txBody>
      </p:sp>
      <p:sp>
        <p:nvSpPr>
          <p:cNvPr id="212" name="Google Shape;212;p21">
            <a:extLst>
              <a:ext uri="{FF2B5EF4-FFF2-40B4-BE49-F238E27FC236}">
                <a16:creationId xmlns:a16="http://schemas.microsoft.com/office/drawing/2014/main" id="{4A552665-2346-61F9-1803-6EE6BD8AEE36}"/>
              </a:ext>
            </a:extLst>
          </p:cNvPr>
          <p:cNvSpPr txBox="1"/>
          <p:nvPr/>
        </p:nvSpPr>
        <p:spPr>
          <a:xfrm>
            <a:off x="1102935" y="4735148"/>
            <a:ext cx="1089031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400">
                <a:solidFill>
                  <a:srgbClr val="334155"/>
                </a:solidFill>
                <a:latin typeface="+mn-lt"/>
                <a:ea typeface="Lato"/>
                <a:cs typeface="Lato"/>
              </a:rPr>
              <a:t>Counties with high unemployment and/or poverty show lower approval rates</a:t>
            </a:r>
          </a:p>
        </p:txBody>
      </p:sp>
      <p:sp>
        <p:nvSpPr>
          <p:cNvPr id="213" name="Google Shape;213;p21">
            <a:extLst>
              <a:ext uri="{FF2B5EF4-FFF2-40B4-BE49-F238E27FC236}">
                <a16:creationId xmlns:a16="http://schemas.microsoft.com/office/drawing/2014/main" id="{0044C04A-635B-A9FA-9E78-EBBB38AAA9D0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  <a:sym typeface="Cinzel"/>
              </a:rPr>
              <a:t>Key Findings</a:t>
            </a:r>
            <a:endParaRPr sz="1600"/>
          </a:p>
        </p:txBody>
      </p:sp>
      <p:sp>
        <p:nvSpPr>
          <p:cNvPr id="214" name="Google Shape;214;p21">
            <a:extLst>
              <a:ext uri="{FF2B5EF4-FFF2-40B4-BE49-F238E27FC236}">
                <a16:creationId xmlns:a16="http://schemas.microsoft.com/office/drawing/2014/main" id="{CAD0BDD0-268E-9DF3-3740-F34C39B4BD4B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Badge Tick with solid fill">
            <a:extLst>
              <a:ext uri="{FF2B5EF4-FFF2-40B4-BE49-F238E27FC236}">
                <a16:creationId xmlns:a16="http://schemas.microsoft.com/office/drawing/2014/main" id="{D7C02323-2F50-7EF9-55EB-6D0105872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980" y="2080106"/>
            <a:ext cx="541472" cy="541472"/>
          </a:xfrm>
          <a:prstGeom prst="rect">
            <a:avLst/>
          </a:prstGeom>
        </p:spPr>
      </p:pic>
      <p:pic>
        <p:nvPicPr>
          <p:cNvPr id="6" name="Graphic 5" descr="Badge Tick with solid fill">
            <a:extLst>
              <a:ext uri="{FF2B5EF4-FFF2-40B4-BE49-F238E27FC236}">
                <a16:creationId xmlns:a16="http://schemas.microsoft.com/office/drawing/2014/main" id="{686300CF-C36D-5589-597C-8A66F44621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980" y="2992098"/>
            <a:ext cx="541472" cy="541472"/>
          </a:xfrm>
          <a:prstGeom prst="rect">
            <a:avLst/>
          </a:prstGeom>
        </p:spPr>
      </p:pic>
      <p:pic>
        <p:nvPicPr>
          <p:cNvPr id="7" name="Graphic 6" descr="Badge Tick with solid fill">
            <a:extLst>
              <a:ext uri="{FF2B5EF4-FFF2-40B4-BE49-F238E27FC236}">
                <a16:creationId xmlns:a16="http://schemas.microsoft.com/office/drawing/2014/main" id="{9704049F-8D9C-6584-8455-1833669D09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980" y="3904090"/>
            <a:ext cx="541472" cy="541472"/>
          </a:xfrm>
          <a:prstGeom prst="rect">
            <a:avLst/>
          </a:prstGeom>
        </p:spPr>
      </p:pic>
      <p:pic>
        <p:nvPicPr>
          <p:cNvPr id="8" name="Graphic 7" descr="Badge Tick with solid fill">
            <a:extLst>
              <a:ext uri="{FF2B5EF4-FFF2-40B4-BE49-F238E27FC236}">
                <a16:creationId xmlns:a16="http://schemas.microsoft.com/office/drawing/2014/main" id="{1ED9F447-E5E2-A03A-55FC-EEF4D46F4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980" y="4816082"/>
            <a:ext cx="541472" cy="54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7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1CA921FF-AF15-B22C-A923-E9094B54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>
            <a:extLst>
              <a:ext uri="{FF2B5EF4-FFF2-40B4-BE49-F238E27FC236}">
                <a16:creationId xmlns:a16="http://schemas.microsoft.com/office/drawing/2014/main" id="{60280350-AB0A-9136-F0A8-20398E83BF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66D19489-BB4B-CDA9-D4DC-375674BFBA0D}"/>
              </a:ext>
            </a:extLst>
          </p:cNvPr>
          <p:cNvSpPr txBox="1"/>
          <p:nvPr/>
        </p:nvSpPr>
        <p:spPr>
          <a:xfrm>
            <a:off x="571500" y="2189901"/>
            <a:ext cx="11049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400">
                <a:solidFill>
                  <a:srgbClr val="334155"/>
                </a:solidFill>
                <a:ea typeface="Lato"/>
                <a:cs typeface="Lato"/>
              </a:rPr>
              <a:t>Our analysis had a few limitations: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EC082DD5-E04C-B65B-7A5D-B7C7D22F52D8}"/>
              </a:ext>
            </a:extLst>
          </p:cNvPr>
          <p:cNvSpPr txBox="1"/>
          <p:nvPr/>
        </p:nvSpPr>
        <p:spPr>
          <a:xfrm>
            <a:off x="952500" y="3214687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</a:rPr>
              <a:t>Heavy reliance on lag variable</a:t>
            </a:r>
            <a:endParaRPr lang="en-US" sz="2000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0F47B119-A12B-A9EE-1102-68E8FD09D597}"/>
              </a:ext>
            </a:extLst>
          </p:cNvPr>
          <p:cNvSpPr txBox="1"/>
          <p:nvPr/>
        </p:nvSpPr>
        <p:spPr>
          <a:xfrm>
            <a:off x="952500" y="4325421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</a:rPr>
              <a:t>Dataset aggregated at county level</a:t>
            </a:r>
            <a:endParaRPr lang="en-US" sz="2000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211" name="Google Shape;211;p21">
            <a:extLst>
              <a:ext uri="{FF2B5EF4-FFF2-40B4-BE49-F238E27FC236}">
                <a16:creationId xmlns:a16="http://schemas.microsoft.com/office/drawing/2014/main" id="{587E2EF1-3BF6-EEB9-36FE-297062B3675A}"/>
              </a:ext>
            </a:extLst>
          </p:cNvPr>
          <p:cNvSpPr txBox="1"/>
          <p:nvPr/>
        </p:nvSpPr>
        <p:spPr>
          <a:xfrm>
            <a:off x="6667500" y="3214687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ea typeface="Lato"/>
                <a:cs typeface="Lato"/>
              </a:rPr>
              <a:t>High multicollinearity</a:t>
            </a:r>
            <a:endParaRPr lang="en-US" sz="2000">
              <a:solidFill>
                <a:schemeClr val="accent6">
                  <a:lumMod val="75000"/>
                </a:schemeClr>
              </a:solidFill>
              <a:ea typeface="Lato"/>
              <a:cs typeface="Lato"/>
            </a:endParaRPr>
          </a:p>
        </p:txBody>
      </p:sp>
      <p:sp>
        <p:nvSpPr>
          <p:cNvPr id="213" name="Google Shape;213;p21">
            <a:extLst>
              <a:ext uri="{FF2B5EF4-FFF2-40B4-BE49-F238E27FC236}">
                <a16:creationId xmlns:a16="http://schemas.microsoft.com/office/drawing/2014/main" id="{80613151-BF05-16D3-1257-C49662586CFF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Limitations</a:t>
            </a:r>
          </a:p>
        </p:txBody>
      </p:sp>
      <p:sp>
        <p:nvSpPr>
          <p:cNvPr id="214" name="Google Shape;214;p21">
            <a:extLst>
              <a:ext uri="{FF2B5EF4-FFF2-40B4-BE49-F238E27FC236}">
                <a16:creationId xmlns:a16="http://schemas.microsoft.com/office/drawing/2014/main" id="{9D426984-31D2-4A55-AD32-14D4E454205D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Warning with solid fill">
            <a:extLst>
              <a:ext uri="{FF2B5EF4-FFF2-40B4-BE49-F238E27FC236}">
                <a16:creationId xmlns:a16="http://schemas.microsoft.com/office/drawing/2014/main" id="{78C1AD92-F555-BBDF-EEDF-8198B8066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83" y="3218577"/>
            <a:ext cx="433437" cy="433437"/>
          </a:xfrm>
          <a:prstGeom prst="rect">
            <a:avLst/>
          </a:prstGeom>
        </p:spPr>
      </p:pic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2A72D83A-03C5-6912-C238-54E6B1ED6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82" y="4338689"/>
            <a:ext cx="433437" cy="433437"/>
          </a:xfrm>
          <a:prstGeom prst="rect">
            <a:avLst/>
          </a:prstGeom>
        </p:spPr>
      </p:pic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E298C07B-AD2D-67F6-94E6-EF21B95EB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5506" y="3232242"/>
            <a:ext cx="433437" cy="4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88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6228"/>
            <a:ext cx="5238750" cy="1758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36227"/>
            <a:ext cx="5238750" cy="175827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816744" y="2228450"/>
            <a:ext cx="46405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97706"/>
                </a:solidFill>
                <a:ea typeface="Lato"/>
                <a:cs typeface="Lato"/>
                <a:sym typeface="Lato"/>
              </a:rPr>
              <a:t>Target High-Probability Zones</a:t>
            </a:r>
            <a:endParaRPr sz="1600"/>
          </a:p>
        </p:txBody>
      </p:sp>
      <p:sp>
        <p:nvSpPr>
          <p:cNvPr id="228" name="Google Shape;228;p22"/>
          <p:cNvSpPr txBox="1"/>
          <p:nvPr/>
        </p:nvSpPr>
        <p:spPr>
          <a:xfrm>
            <a:off x="1000125" y="3084290"/>
            <a:ext cx="4419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ea typeface="Lato"/>
                <a:sym typeface="Lato"/>
              </a:rPr>
              <a:t>Identify counties with high historic approval rates and strong private insurance coverage. </a:t>
            </a:r>
            <a:endParaRPr lang="en-US" sz="1600">
              <a:ea typeface="Lato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6581775" y="2240952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97706"/>
                </a:solidFill>
                <a:ea typeface="Lato"/>
                <a:cs typeface="Lato"/>
                <a:sym typeface="Lato"/>
              </a:rPr>
              <a:t>Business Application</a:t>
            </a:r>
            <a:endParaRPr sz="1600"/>
          </a:p>
        </p:txBody>
      </p:sp>
      <p:sp>
        <p:nvSpPr>
          <p:cNvPr id="230" name="Google Shape;230;p22"/>
          <p:cNvSpPr txBox="1"/>
          <p:nvPr/>
        </p:nvSpPr>
        <p:spPr>
          <a:xfrm>
            <a:off x="6810375" y="2861365"/>
            <a:ext cx="464058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Advertise this model to loan officers and mortgage brokers. </a:t>
            </a: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Increasing efficiency</a:t>
            </a:r>
            <a:r>
              <a:rPr lang="en-US" sz="1600" b="0" i="0" u="none" strike="noStrike" cap="none">
                <a:solidFill>
                  <a:srgbClr val="334155"/>
                </a:solidFill>
                <a:ea typeface="Lato"/>
                <a:cs typeface="Lato"/>
                <a:sym typeface="Lato"/>
              </a:rPr>
              <a:t> and reduce the cost-per-acquisition for new mortgages.</a:t>
            </a:r>
            <a:endParaRPr lang="en-GB" sz="1600"/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+mn-lt"/>
                <a:ea typeface="Cinzel"/>
                <a:cs typeface="Cinzel"/>
                <a:sym typeface="Cinzel"/>
              </a:rPr>
              <a:t>Strategic Recommendations</a:t>
            </a:r>
            <a:endParaRPr sz="1600">
              <a:latin typeface="+mn-lt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Compass with solid fill">
            <a:extLst>
              <a:ext uri="{FF2B5EF4-FFF2-40B4-BE49-F238E27FC236}">
                <a16:creationId xmlns:a16="http://schemas.microsoft.com/office/drawing/2014/main" id="{1B7DA15E-9E78-E57F-D65C-75FE73A96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443" y="2124459"/>
            <a:ext cx="457200" cy="457200"/>
          </a:xfrm>
          <a:prstGeom prst="rect">
            <a:avLst/>
          </a:prstGeom>
        </p:spPr>
      </p:pic>
      <p:pic>
        <p:nvPicPr>
          <p:cNvPr id="5" name="Graphic 4" descr="Briefcase with solid fill">
            <a:extLst>
              <a:ext uri="{FF2B5EF4-FFF2-40B4-BE49-F238E27FC236}">
                <a16:creationId xmlns:a16="http://schemas.microsoft.com/office/drawing/2014/main" id="{F255E7A3-0176-4878-9FE5-D0ABB9877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3175" y="2124459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>
          <a:extLst>
            <a:ext uri="{FF2B5EF4-FFF2-40B4-BE49-F238E27FC236}">
              <a16:creationId xmlns:a16="http://schemas.microsoft.com/office/drawing/2014/main" id="{7BB9C5F9-2C11-B007-6DB4-51FD9A14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>
            <a:extLst>
              <a:ext uri="{FF2B5EF4-FFF2-40B4-BE49-F238E27FC236}">
                <a16:creationId xmlns:a16="http://schemas.microsoft.com/office/drawing/2014/main" id="{80B73568-5DE2-B2FC-57CC-0B6EBE1C5C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>
            <a:extLst>
              <a:ext uri="{FF2B5EF4-FFF2-40B4-BE49-F238E27FC236}">
                <a16:creationId xmlns:a16="http://schemas.microsoft.com/office/drawing/2014/main" id="{1926B2E7-858D-A3D3-49EE-8EEA62B99C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6228"/>
            <a:ext cx="5238750" cy="1758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>
            <a:extLst>
              <a:ext uri="{FF2B5EF4-FFF2-40B4-BE49-F238E27FC236}">
                <a16:creationId xmlns:a16="http://schemas.microsoft.com/office/drawing/2014/main" id="{C7C03FE4-D6E9-F76A-FB26-BC49B1D35D1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36227"/>
            <a:ext cx="5238750" cy="175827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>
            <a:extLst>
              <a:ext uri="{FF2B5EF4-FFF2-40B4-BE49-F238E27FC236}">
                <a16:creationId xmlns:a16="http://schemas.microsoft.com/office/drawing/2014/main" id="{91956012-73FD-822B-0BF7-75A7F8D5A6A4}"/>
              </a:ext>
            </a:extLst>
          </p:cNvPr>
          <p:cNvSpPr txBox="1"/>
          <p:nvPr/>
        </p:nvSpPr>
        <p:spPr>
          <a:xfrm>
            <a:off x="816744" y="2228450"/>
            <a:ext cx="46405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000" b="1">
                <a:solidFill>
                  <a:srgbClr val="D97706"/>
                </a:solidFill>
                <a:ea typeface="Lato"/>
                <a:cs typeface="Lato"/>
              </a:rPr>
              <a:t>Small Business Loan Officers</a:t>
            </a:r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617F3F7C-8598-3DB2-DEB9-2F9FEF1749E6}"/>
              </a:ext>
            </a:extLst>
          </p:cNvPr>
          <p:cNvSpPr txBox="1"/>
          <p:nvPr/>
        </p:nvSpPr>
        <p:spPr>
          <a:xfrm>
            <a:off x="6581775" y="2240952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000" b="1">
                <a:solidFill>
                  <a:srgbClr val="D97706"/>
                </a:solidFill>
                <a:ea typeface="Lato"/>
                <a:cs typeface="Lato"/>
              </a:rPr>
              <a:t>Good Will</a:t>
            </a:r>
          </a:p>
        </p:txBody>
      </p:sp>
      <p:sp>
        <p:nvSpPr>
          <p:cNvPr id="230" name="Google Shape;230;p22">
            <a:extLst>
              <a:ext uri="{FF2B5EF4-FFF2-40B4-BE49-F238E27FC236}">
                <a16:creationId xmlns:a16="http://schemas.microsoft.com/office/drawing/2014/main" id="{E4B42C18-A287-407C-E53C-ABA47D890532}"/>
              </a:ext>
            </a:extLst>
          </p:cNvPr>
          <p:cNvSpPr txBox="1"/>
          <p:nvPr/>
        </p:nvSpPr>
        <p:spPr>
          <a:xfrm>
            <a:off x="6810375" y="2861365"/>
            <a:ext cx="464058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Provide key insights to non-profits to gain good will</a:t>
            </a:r>
          </a:p>
        </p:txBody>
      </p:sp>
      <p:sp>
        <p:nvSpPr>
          <p:cNvPr id="234" name="Google Shape;234;p22">
            <a:extLst>
              <a:ext uri="{FF2B5EF4-FFF2-40B4-BE49-F238E27FC236}">
                <a16:creationId xmlns:a16="http://schemas.microsoft.com/office/drawing/2014/main" id="{12B24F26-9AC6-22E1-4B05-FBA894B3DBB2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Compass with solid fill">
            <a:extLst>
              <a:ext uri="{FF2B5EF4-FFF2-40B4-BE49-F238E27FC236}">
                <a16:creationId xmlns:a16="http://schemas.microsoft.com/office/drawing/2014/main" id="{03EF5559-B0E3-F5F6-9B4A-206A4E518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443" y="2124459"/>
            <a:ext cx="457200" cy="457200"/>
          </a:xfrm>
          <a:prstGeom prst="rect">
            <a:avLst/>
          </a:prstGeom>
        </p:spPr>
      </p:pic>
      <p:pic>
        <p:nvPicPr>
          <p:cNvPr id="5" name="Graphic 4" descr="Briefcase with solid fill">
            <a:extLst>
              <a:ext uri="{FF2B5EF4-FFF2-40B4-BE49-F238E27FC236}">
                <a16:creationId xmlns:a16="http://schemas.microsoft.com/office/drawing/2014/main" id="{BF418BDD-676D-C9D8-9A88-A78723BC5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3175" y="2124459"/>
            <a:ext cx="457200" cy="457200"/>
          </a:xfrm>
          <a:prstGeom prst="rect">
            <a:avLst/>
          </a:prstGeom>
        </p:spPr>
      </p:pic>
      <p:sp>
        <p:nvSpPr>
          <p:cNvPr id="4" name="Google Shape;233;p22">
            <a:extLst>
              <a:ext uri="{FF2B5EF4-FFF2-40B4-BE49-F238E27FC236}">
                <a16:creationId xmlns:a16="http://schemas.microsoft.com/office/drawing/2014/main" id="{E8086256-3585-E841-A485-174A77DA7EEA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  <a:latin typeface="+mn-lt"/>
              </a:rPr>
              <a:t>Path Forward </a:t>
            </a:r>
          </a:p>
        </p:txBody>
      </p:sp>
      <p:sp>
        <p:nvSpPr>
          <p:cNvPr id="6" name="Google Shape;230;p22">
            <a:extLst>
              <a:ext uri="{FF2B5EF4-FFF2-40B4-BE49-F238E27FC236}">
                <a16:creationId xmlns:a16="http://schemas.microsoft.com/office/drawing/2014/main" id="{D7A30431-AAA2-6513-22F0-A4477AFBE6CE}"/>
              </a:ext>
            </a:extLst>
          </p:cNvPr>
          <p:cNvSpPr txBox="1"/>
          <p:nvPr/>
        </p:nvSpPr>
        <p:spPr>
          <a:xfrm>
            <a:off x="877660" y="2861365"/>
            <a:ext cx="464058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Small Business Loan Officer subscribe to our model and gain insights into top counties or best counties in a state of new entry. </a:t>
            </a:r>
            <a:endParaRPr lang="en-US" sz="1600">
              <a:solidFill>
                <a:srgbClr val="334155"/>
              </a:solidFill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28346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>
          <a:extLst>
            <a:ext uri="{FF2B5EF4-FFF2-40B4-BE49-F238E27FC236}">
              <a16:creationId xmlns:a16="http://schemas.microsoft.com/office/drawing/2014/main" id="{AC4D6130-B33B-B462-63EF-30F44B606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>
            <a:extLst>
              <a:ext uri="{FF2B5EF4-FFF2-40B4-BE49-F238E27FC236}">
                <a16:creationId xmlns:a16="http://schemas.microsoft.com/office/drawing/2014/main" id="{467215D8-615A-B9DA-C258-C4AD88B720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>
            <a:extLst>
              <a:ext uri="{FF2B5EF4-FFF2-40B4-BE49-F238E27FC236}">
                <a16:creationId xmlns:a16="http://schemas.microsoft.com/office/drawing/2014/main" id="{1A988B73-4183-4D12-35B6-09E264CE2E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6986"/>
            <a:ext cx="5238750" cy="1787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>
            <a:extLst>
              <a:ext uri="{FF2B5EF4-FFF2-40B4-BE49-F238E27FC236}">
                <a16:creationId xmlns:a16="http://schemas.microsoft.com/office/drawing/2014/main" id="{C9F69AF7-046D-D8C1-18F1-1E9C7456471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36986"/>
            <a:ext cx="5238750" cy="178756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>
            <a:extLst>
              <a:ext uri="{FF2B5EF4-FFF2-40B4-BE49-F238E27FC236}">
                <a16:creationId xmlns:a16="http://schemas.microsoft.com/office/drawing/2014/main" id="{44438931-EE8F-B68C-E86D-A0D06B6ACFAB}"/>
              </a:ext>
            </a:extLst>
          </p:cNvPr>
          <p:cNvSpPr txBox="1"/>
          <p:nvPr/>
        </p:nvSpPr>
        <p:spPr>
          <a:xfrm>
            <a:off x="689040" y="2206971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000" b="1">
                <a:solidFill>
                  <a:srgbClr val="D97706"/>
                </a:solidFill>
                <a:ea typeface="Lato"/>
                <a:cs typeface="Lato"/>
              </a:rPr>
              <a:t>Model the borrower</a:t>
            </a:r>
          </a:p>
        </p:txBody>
      </p:sp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174156A2-533E-A1BB-837C-314A611F2E2A}"/>
              </a:ext>
            </a:extLst>
          </p:cNvPr>
          <p:cNvSpPr txBox="1"/>
          <p:nvPr/>
        </p:nvSpPr>
        <p:spPr>
          <a:xfrm>
            <a:off x="1000125" y="3178522"/>
            <a:ext cx="4419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  <a:sym typeface="Lato"/>
              </a:rPr>
              <a:t>Incorporate individual level factors to predict approval odds instantly. </a:t>
            </a:r>
            <a:endParaRPr sz="1600"/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AA5DA14C-8C5B-6F6D-0AAD-645BEC949690}"/>
              </a:ext>
            </a:extLst>
          </p:cNvPr>
          <p:cNvSpPr txBox="1"/>
          <p:nvPr/>
        </p:nvSpPr>
        <p:spPr>
          <a:xfrm>
            <a:off x="6573220" y="2232186"/>
            <a:ext cx="46405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r>
              <a:rPr lang="en-US" sz="2000" b="1">
                <a:solidFill>
                  <a:srgbClr val="D97706"/>
                </a:solidFill>
                <a:ea typeface="Lato"/>
                <a:cs typeface="Lato"/>
                <a:sym typeface="Lato"/>
              </a:rPr>
              <a:t>Climate Data</a:t>
            </a:r>
            <a:endParaRPr sz="1600"/>
          </a:p>
        </p:txBody>
      </p:sp>
      <p:sp>
        <p:nvSpPr>
          <p:cNvPr id="233" name="Google Shape;233;p22">
            <a:extLst>
              <a:ext uri="{FF2B5EF4-FFF2-40B4-BE49-F238E27FC236}">
                <a16:creationId xmlns:a16="http://schemas.microsoft.com/office/drawing/2014/main" id="{2F0EC0E6-F905-FB15-04DD-E5B2ED9E4C2A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  <a:latin typeface="+mn-lt"/>
                <a:sym typeface="Cinzel"/>
              </a:rPr>
              <a:t>Future Work</a:t>
            </a:r>
            <a:endParaRPr sz="1600">
              <a:latin typeface="+mn-lt"/>
            </a:endParaRPr>
          </a:p>
        </p:txBody>
      </p:sp>
      <p:sp>
        <p:nvSpPr>
          <p:cNvPr id="234" name="Google Shape;234;p22">
            <a:extLst>
              <a:ext uri="{FF2B5EF4-FFF2-40B4-BE49-F238E27FC236}">
                <a16:creationId xmlns:a16="http://schemas.microsoft.com/office/drawing/2014/main" id="{29F44BD9-7D39-A3AD-6AFE-FBA409FCA392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28;p22">
            <a:extLst>
              <a:ext uri="{FF2B5EF4-FFF2-40B4-BE49-F238E27FC236}">
                <a16:creationId xmlns:a16="http://schemas.microsoft.com/office/drawing/2014/main" id="{1567C6A1-9983-2E15-ED10-E217E6524853}"/>
              </a:ext>
            </a:extLst>
          </p:cNvPr>
          <p:cNvSpPr txBox="1"/>
          <p:nvPr/>
        </p:nvSpPr>
        <p:spPr>
          <a:xfrm>
            <a:off x="6794200" y="3178521"/>
            <a:ext cx="4419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>
                <a:solidFill>
                  <a:srgbClr val="334155"/>
                </a:solidFill>
                <a:ea typeface="Lato"/>
                <a:cs typeface="Lato"/>
              </a:rPr>
              <a:t>Merge with Climate data to identify high-risk areas</a:t>
            </a:r>
          </a:p>
        </p:txBody>
      </p:sp>
      <p:pic>
        <p:nvPicPr>
          <p:cNvPr id="5" name="Graphic 4" descr="Artificial Intelligence with solid fill">
            <a:extLst>
              <a:ext uri="{FF2B5EF4-FFF2-40B4-BE49-F238E27FC236}">
                <a16:creationId xmlns:a16="http://schemas.microsoft.com/office/drawing/2014/main" id="{3D441EC1-3AAB-854F-60E6-B08B4EBA68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2095398"/>
            <a:ext cx="457200" cy="457200"/>
          </a:xfrm>
          <a:prstGeom prst="rect">
            <a:avLst/>
          </a:prstGeom>
        </p:spPr>
      </p:pic>
      <p:pic>
        <p:nvPicPr>
          <p:cNvPr id="6" name="Graphic 5" descr="Artificial Intelligence with solid fill">
            <a:extLst>
              <a:ext uri="{FF2B5EF4-FFF2-40B4-BE49-F238E27FC236}">
                <a16:creationId xmlns:a16="http://schemas.microsoft.com/office/drawing/2014/main" id="{8658F0E5-1D8F-0607-24B5-FD71F303A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5182" y="209437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24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3767137" y="2757377"/>
            <a:ext cx="48906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ea typeface="Cinzel"/>
                <a:cs typeface="Cinzel"/>
                <a:sym typeface="Cinzel"/>
              </a:rPr>
              <a:t>Questions?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445659" y="6404560"/>
            <a:ext cx="2554664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ea typeface="Lato"/>
                <a:cs typeface="Lato"/>
                <a:sym typeface="Lato"/>
              </a:rPr>
              <a:t>Analytic Avengers Team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CA3406E5-0E85-5D82-D08E-D5F3E53B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DBC2D9A9-4C83-D595-5D48-A8E117CFA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87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99FA592D-5714-EE83-1220-B12189DC1897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Additional Slides</a:t>
            </a: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54F0834D-2A85-3137-E690-84D0BC89C598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A97AB-FA18-DB2F-F578-65CB3C15B50F}"/>
              </a:ext>
            </a:extLst>
          </p:cNvPr>
          <p:cNvSpPr txBox="1"/>
          <p:nvPr/>
        </p:nvSpPr>
        <p:spPr>
          <a:xfrm>
            <a:off x="744718" y="1593130"/>
            <a:ext cx="6645896" cy="183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78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571500" y="231278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71500" y="309755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  <a:latin typeface="+mn-lt"/>
              </a:rPr>
              <a:t>ADDITIONAL SLIDES</a:t>
            </a:r>
          </a:p>
        </p:txBody>
      </p:sp>
      <p:sp>
        <p:nvSpPr>
          <p:cNvPr id="270" name="Google Shape;270;p24"/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BE74DF-737B-9224-0DB5-AC42C6C74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21" y="1584290"/>
            <a:ext cx="8498377" cy="48595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33AFCE7B-89EA-E293-339B-AA58C4C9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>
            <a:extLst>
              <a:ext uri="{FF2B5EF4-FFF2-40B4-BE49-F238E27FC236}">
                <a16:creationId xmlns:a16="http://schemas.microsoft.com/office/drawing/2014/main" id="{83A2BFA2-6C9E-195B-6092-5CC6CFA97BEC}"/>
              </a:ext>
            </a:extLst>
          </p:cNvPr>
          <p:cNvSpPr/>
          <p:nvPr/>
        </p:nvSpPr>
        <p:spPr>
          <a:xfrm>
            <a:off x="571500" y="231278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7413D9BE-03DA-1FD0-460F-F53BD6B2C164}"/>
              </a:ext>
            </a:extLst>
          </p:cNvPr>
          <p:cNvSpPr/>
          <p:nvPr/>
        </p:nvSpPr>
        <p:spPr>
          <a:xfrm>
            <a:off x="571500" y="309755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F771A309-5BF0-84E7-0B48-51534BC5AA2B}"/>
              </a:ext>
            </a:extLst>
          </p:cNvPr>
          <p:cNvSpPr/>
          <p:nvPr/>
        </p:nvSpPr>
        <p:spPr>
          <a:xfrm>
            <a:off x="571500" y="388233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>
            <a:extLst>
              <a:ext uri="{FF2B5EF4-FFF2-40B4-BE49-F238E27FC236}">
                <a16:creationId xmlns:a16="http://schemas.microsoft.com/office/drawing/2014/main" id="{2DA76538-2089-AA79-28F6-3B77B1DDD7EC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  <a:latin typeface="+mn-lt"/>
              </a:rPr>
              <a:t>ADDITIONAL SLIDES - Multicollinearity</a:t>
            </a:r>
          </a:p>
        </p:txBody>
      </p:sp>
      <p:sp>
        <p:nvSpPr>
          <p:cNvPr id="270" name="Google Shape;270;p24">
            <a:extLst>
              <a:ext uri="{FF2B5EF4-FFF2-40B4-BE49-F238E27FC236}">
                <a16:creationId xmlns:a16="http://schemas.microsoft.com/office/drawing/2014/main" id="{3BF2993B-622C-DDC8-55E6-A7567F13BB96}"/>
              </a:ext>
            </a:extLst>
          </p:cNvPr>
          <p:cNvSpPr/>
          <p:nvPr/>
        </p:nvSpPr>
        <p:spPr>
          <a:xfrm>
            <a:off x="571500" y="1257300"/>
            <a:ext cx="11049000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close-up of a graph&#10;&#10;AI-generated content may be incorrect.">
            <a:extLst>
              <a:ext uri="{FF2B5EF4-FFF2-40B4-BE49-F238E27FC236}">
                <a16:creationId xmlns:a16="http://schemas.microsoft.com/office/drawing/2014/main" id="{B9487103-6E52-FCFC-8F57-02BC95A8A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420" y="1710905"/>
            <a:ext cx="5176633" cy="45432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C198D0-7446-C0A2-6CEE-2FBA97BEC979}"/>
              </a:ext>
            </a:extLst>
          </p:cNvPr>
          <p:cNvSpPr txBox="1"/>
          <p:nvPr/>
        </p:nvSpPr>
        <p:spPr>
          <a:xfrm>
            <a:off x="431321" y="2551981"/>
            <a:ext cx="5665305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11480" indent="-200660" algn="l" rtl="0">
              <a:buFont typeface="Arial"/>
              <a:buChar char="•"/>
            </a:pPr>
            <a:r>
              <a:rPr lang="en-US" sz="2000" b="1" kern="1200">
                <a:solidFill>
                  <a:srgbClr val="000000"/>
                </a:solidFill>
                <a:ea typeface="Canva Sans Bold"/>
                <a:cs typeface="Canva Sans Bold"/>
              </a:rPr>
              <a:t>Strong multicollinearity among economic &amp; demographic variables.</a:t>
            </a:r>
          </a:p>
          <a:p>
            <a:pPr marL="411480" indent="-200660" algn="l" rtl="0">
              <a:buFont typeface="Arial"/>
              <a:buChar char="•"/>
            </a:pPr>
            <a:r>
              <a:rPr lang="en-US" sz="2000" b="1" kern="1200">
                <a:solidFill>
                  <a:srgbClr val="000000"/>
                </a:solidFill>
                <a:ea typeface="Canva Sans Bold"/>
                <a:cs typeface="Canva Sans Bold"/>
              </a:rPr>
              <a:t>Durbin–Watson tests:</a:t>
            </a:r>
          </a:p>
          <a:p>
            <a:pPr marL="411480" indent="-200660" algn="l" rtl="0">
              <a:buFont typeface="Arial"/>
              <a:buChar char="•"/>
            </a:pPr>
            <a:r>
              <a:rPr lang="en-US" sz="2000" b="1" kern="1200">
                <a:solidFill>
                  <a:srgbClr val="000000"/>
                </a:solidFill>
                <a:ea typeface="Canva Sans Bold"/>
                <a:cs typeface="Canva Sans Bold"/>
              </a:rPr>
              <a:t>Without lag: DW = 1.28 → high autocorrelation.</a:t>
            </a:r>
          </a:p>
          <a:p>
            <a:pPr marL="411480" indent="-200660" algn="l" rtl="0">
              <a:buFont typeface="Arial"/>
              <a:buChar char="•"/>
            </a:pPr>
            <a:r>
              <a:rPr lang="en-US" sz="2000" b="1" kern="1200">
                <a:solidFill>
                  <a:srgbClr val="000000"/>
                </a:solidFill>
                <a:ea typeface="Canva Sans Bold"/>
                <a:cs typeface="Canva Sans Bold"/>
              </a:rPr>
              <a:t>With lag: DW = 1.84 → improved.</a:t>
            </a:r>
          </a:p>
          <a:p>
            <a:pPr marL="411480" indent="-200660" algn="l" rtl="0">
              <a:buFont typeface="Arial"/>
              <a:buChar char="•"/>
            </a:pPr>
            <a:r>
              <a:rPr lang="en-US" sz="2000" b="1" kern="1200">
                <a:solidFill>
                  <a:srgbClr val="000000"/>
                </a:solidFill>
                <a:ea typeface="Canva Sans Bold"/>
                <a:cs typeface="Canva Sans Bold"/>
              </a:rPr>
              <a:t>Breusch–Pagan test failed → heteroscedasticity present.</a:t>
            </a:r>
          </a:p>
          <a:p>
            <a:pPr marL="411480" indent="-200660" algn="l" rtl="0">
              <a:buFont typeface="Arial"/>
              <a:buChar char="•"/>
            </a:pPr>
            <a:r>
              <a:rPr lang="en-US" sz="2000" b="1" kern="1200">
                <a:solidFill>
                  <a:srgbClr val="000000"/>
                </a:solidFill>
                <a:ea typeface="Canva Sans Bold"/>
                <a:cs typeface="Canva Sans Bold"/>
              </a:rPr>
              <a:t>Residuals follow normal distribution.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6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Microsoft Office PowerPoint</Application>
  <PresentationFormat>Widescreen</PresentationFormat>
  <Paragraphs>246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Tazvitya Chihota</cp:lastModifiedBy>
  <cp:revision>4</cp:revision>
  <dcterms:modified xsi:type="dcterms:W3CDTF">2026-06-01T04:14:09Z</dcterms:modified>
</cp:coreProperties>
</file>